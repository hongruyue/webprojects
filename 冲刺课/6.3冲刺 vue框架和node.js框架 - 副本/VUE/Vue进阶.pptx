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9"/>
  </p:handoutMasterIdLst>
  <p:sldIdLst>
    <p:sldId id="339" r:id="rId3"/>
    <p:sldId id="355" r:id="rId5"/>
    <p:sldId id="356" r:id="rId6"/>
    <p:sldId id="502" r:id="rId7"/>
    <p:sldId id="379" r:id="rId8"/>
    <p:sldId id="394" r:id="rId9"/>
    <p:sldId id="380" r:id="rId10"/>
    <p:sldId id="393" r:id="rId11"/>
    <p:sldId id="395" r:id="rId12"/>
    <p:sldId id="396" r:id="rId13"/>
    <p:sldId id="485" r:id="rId14"/>
    <p:sldId id="357" r:id="rId15"/>
    <p:sldId id="397" r:id="rId16"/>
    <p:sldId id="398" r:id="rId17"/>
    <p:sldId id="493" r:id="rId18"/>
    <p:sldId id="494" r:id="rId19"/>
    <p:sldId id="495" r:id="rId20"/>
    <p:sldId id="481" r:id="rId21"/>
    <p:sldId id="496" r:id="rId22"/>
    <p:sldId id="497" r:id="rId23"/>
    <p:sldId id="498" r:id="rId24"/>
    <p:sldId id="499" r:id="rId25"/>
    <p:sldId id="482" r:id="rId26"/>
    <p:sldId id="501" r:id="rId27"/>
    <p:sldId id="340" r:id="rId2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457DA5"/>
    <a:srgbClr val="F2644C"/>
    <a:srgbClr val="0065B0"/>
    <a:srgbClr val="FF0505"/>
    <a:srgbClr val="EA0000"/>
    <a:srgbClr val="444444"/>
    <a:srgbClr val="0FCED3"/>
    <a:srgbClr val="D60093"/>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33" autoAdjust="0"/>
    <p:restoredTop sz="99548" autoAdjust="0"/>
  </p:normalViewPr>
  <p:slideViewPr>
    <p:cSldViewPr>
      <p:cViewPr varScale="1">
        <p:scale>
          <a:sx n="134" d="100"/>
          <a:sy n="134" d="100"/>
        </p:scale>
        <p:origin x="-78" y="-594"/>
      </p:cViewPr>
      <p:guideLst>
        <p:guide orient="horz" pos="1682"/>
        <p:guide pos="2884"/>
      </p:guideLst>
    </p:cSldViewPr>
  </p:slideViewPr>
  <p:notesTextViewPr>
    <p:cViewPr>
      <p:scale>
        <a:sx n="100" d="100"/>
        <a:sy n="100" d="100"/>
      </p:scale>
      <p:origin x="0" y="0"/>
    </p:cViewPr>
  </p:notesTextViewPr>
  <p:sorterViewPr>
    <p:cViewPr>
      <p:scale>
        <a:sx n="190" d="100"/>
        <a:sy n="190" d="100"/>
      </p:scale>
      <p:origin x="0" y="0"/>
    </p:cViewPr>
  </p:sorterViewPr>
  <p:notesViewPr>
    <p:cSldViewPr>
      <p:cViewPr varScale="1">
        <p:scale>
          <a:sx n="53" d="100"/>
          <a:sy n="53" d="100"/>
        </p:scale>
        <p:origin x="-2940" y="-90"/>
      </p:cViewPr>
      <p:guideLst>
        <p:guide orient="horz" pos="2991"/>
        <p:guide pos="2163"/>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BABB2A-1528-4AAF-9A21-F4370666C7B2}"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38927C-AB49-450F-8967-4AD52E2DC3DA}"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190015-6979-4CAF-87BC-D33F74A1F261}"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CA0D8-6577-48B2-BA77-88519BAFBFD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35AF454-C1DB-447C-9EEC-A5F3AC4DF9C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Vue.js（读音 /vjuː/，类似于 view） 是一套构建用户界面的渐进式框架。与其他重量级框架不同的是，Vue 采用自底向上增量开发的设计。Vue 的核心库只关注视图层，它不仅易于上手，还便于与第三方库或既有项目整合。另一方面，当与单文件组件和 Vue 生态系统支持的库结合使用时，Vue 也完全能够为复杂的单页应用程序提供驱动。</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Vue.js（读音 /vjuː/，类似于 view） 是一套构建用户界面的渐进式框架。与其他重量级框架不同的是，Vue 采用自底向上增量开发的设计。Vue 的核心库只关注视图层，它不仅易于上手，还便于与第三方库或既有项目整合。另一方面，当与单文件组件和 Vue 生态系统支持的库结合使用时，Vue 也完全能够为复杂的单页应用程序提供驱动。</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Vue 和 React 也提供功能性组件，这些组件因为都是没有声明，没有实例化的，因此会花费更少的开销。当这些都用于关键性能的场景时，Vue 将会更快。为了证明这点，我们建立了一个简单的参照项目，它负责渲染 10,000 个列表项 100 次。我们鼓励你基于此去尝试运行一下。然而在实际上，由于浏览器和硬件的差异甚至 JavaScript 引擎的不同，结果都会相应有所不同。</a:t>
            </a:r>
            <a:endParaRPr lang="zh-CN" altLang="en-US"/>
          </a:p>
          <a:p>
            <a:endParaRPr lang="zh-CN" altLang="en-US"/>
          </a:p>
          <a:p>
            <a:r>
              <a:rPr lang="zh-CN" altLang="en-US"/>
              <a:t>如果你懒得去做，下面的数值是产生自运行于 2014 款 MacBook Air 的 Chrome 52。为了避免偶然性，每个参照项目都分别运行 20 次并取自最好的结果：</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这里我们遇到点新东西。你看到的 v-bind 属性被称为指令。指令带有前缀 v-，以表示它们是 Vue 提供的特殊属性。可能你已经猜到了，它们会在渲染的 DOM 上应用特殊的响应式行为。简言之，这里该指令的作用是：“将这个元素节点的 title 属性和 Vue 实例的 message 属性保持一致”。</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复杂性</a:t>
            </a:r>
            <a:endParaRPr lang="zh-CN" altLang="en-US"/>
          </a:p>
          <a:p>
            <a:r>
              <a:rPr lang="zh-CN" altLang="en-US"/>
              <a:t>在 API 与设计两方面上 Vue.js 都比 Angular 1 简单得多，因此你可以快速地掌握它的全部特性并投入开发。</a:t>
            </a:r>
            <a:endParaRPr lang="zh-CN" altLang="en-US"/>
          </a:p>
          <a:p>
            <a:endParaRPr lang="zh-CN" altLang="en-US"/>
          </a:p>
          <a:p>
            <a:r>
              <a:rPr lang="zh-CN" altLang="en-US"/>
              <a:t>灵活性和模块化</a:t>
            </a:r>
            <a:endParaRPr lang="zh-CN" altLang="en-US"/>
          </a:p>
          <a:p>
            <a:r>
              <a:rPr lang="zh-CN" altLang="en-US"/>
              <a:t>Vue.js 是一个更加灵活开放的解决方案。它允许你以希望的方式组织应用程序，而不是在任何时候都必须遵循 Angular 1 制定的规则，这让 Vue 能适用于各种项目。我们知道把决定权交给你是非常必要的。</a:t>
            </a:r>
            <a:endParaRPr lang="zh-CN" altLang="en-US"/>
          </a:p>
          <a:p>
            <a:r>
              <a:rPr lang="zh-CN" altLang="en-US"/>
              <a:t>这也就是为什么我们提供 Webpack template，让你可以用几分钟，去选择是否启用高级特性，比如热模块加载、linting、</a:t>
            </a:r>
            <a:endParaRPr lang="zh-CN" altLang="en-US"/>
          </a:p>
          <a:p>
            <a:r>
              <a:rPr lang="zh-CN" altLang="en-US"/>
              <a:t>CSS 提取等等。</a:t>
            </a:r>
            <a:endParaRPr lang="zh-CN" altLang="en-US"/>
          </a:p>
          <a:p>
            <a:endParaRPr lang="zh-CN" altLang="en-US"/>
          </a:p>
          <a:p>
            <a:r>
              <a:rPr lang="zh-CN" altLang="en-US"/>
              <a:t>数据绑定</a:t>
            </a:r>
            <a:endParaRPr lang="zh-CN" altLang="en-US"/>
          </a:p>
          <a:p>
            <a:r>
              <a:rPr lang="zh-CN" altLang="en-US"/>
              <a:t>Angular 1 使用双向绑定，Vue 在不同组件间强制使用单向数据流。这使应用中的数据流更加清晰易懂。</a:t>
            </a:r>
            <a:endParaRPr lang="zh-CN" altLang="en-US"/>
          </a:p>
          <a:p>
            <a:endParaRPr lang="zh-CN" altLang="en-US"/>
          </a:p>
          <a:p>
            <a:r>
              <a:rPr lang="zh-CN" altLang="en-US"/>
              <a:t>指令与组件</a:t>
            </a:r>
            <a:endParaRPr lang="zh-CN" altLang="en-US"/>
          </a:p>
          <a:p>
            <a:r>
              <a:rPr lang="zh-CN" altLang="en-US"/>
              <a:t>在 Vue 中指令和组件分得更清晰。指令只封装 DOM 操作，而组件代表一个自给自足的独立单元 —— 有自己的视图和数据逻辑。在 Angular 中两者有不少相混的地方。</a:t>
            </a:r>
            <a:endParaRPr lang="zh-CN" altLang="en-US"/>
          </a:p>
          <a:p>
            <a:endParaRPr lang="zh-CN" altLang="en-US"/>
          </a:p>
          <a:p>
            <a:r>
              <a:rPr lang="zh-CN" altLang="en-US"/>
              <a:t>性能</a:t>
            </a:r>
            <a:endParaRPr lang="zh-CN" altLang="en-US"/>
          </a:p>
          <a:p>
            <a:r>
              <a:rPr lang="zh-CN" altLang="en-US"/>
              <a:t>Vue 有更好的性能，并且非常非常容易优化，因为它不使用脏检查。</a:t>
            </a:r>
            <a:endParaRPr lang="zh-CN" altLang="en-US"/>
          </a:p>
          <a:p>
            <a:endParaRPr lang="zh-CN" altLang="en-US"/>
          </a:p>
          <a:p>
            <a:r>
              <a:rPr lang="zh-CN" altLang="en-US"/>
              <a:t>在 Angular 1 中，当 watcher 越来越多时会变得越来越慢，因为作用域内的每一次变化，所有 watcher 都要重新计算。并且，如果一些 watcher 触发另一个更新，脏检查循环（digest cycle）可能要运行多次。Angular 用户常常要使用深奥的技术，以解决脏检查循环的问题。有时没有简单的办法来优化有大量 watcher 的作用域。</a:t>
            </a:r>
            <a:endParaRPr lang="zh-CN" altLang="en-US"/>
          </a:p>
          <a:p>
            <a:endParaRPr lang="zh-CN" altLang="en-US"/>
          </a:p>
          <a:p>
            <a:r>
              <a:rPr lang="zh-CN" altLang="en-US"/>
              <a:t>Vue 则根本没有这个问题，因为它使用基于依赖追踪的观察系统并且异步队列更新，所有的数据变化都是独立触发，除非它们之间有明确的依赖关系。</a:t>
            </a:r>
            <a:endParaRPr lang="zh-CN" altLang="en-US"/>
          </a:p>
          <a:p>
            <a:endParaRPr lang="zh-CN" altLang="en-US"/>
          </a:p>
          <a:p>
            <a:r>
              <a:rPr lang="zh-CN" altLang="en-US"/>
              <a:t>有意思的是，Angular 2 和 Vue 用相似的设计解决了一些 Angular 1 中存在的问题。</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仔细想想，几乎任意类型的应用界面都可以抽象为一个组件树：</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仔细想想，几乎任意类型的应用界面都可以抽象为一个组件树：</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仔细想想，几乎任意类型的应用界面都可以抽象为一个组件树：</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仔细想想，几乎任意类型的应用界面都可以抽象为一个组件树：</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这只是一个假设的例子，但是我们已经设法将应用分割成了两个更小的单元，子单元通过 props 接口实现了与父单元很好的解耦。我们现在可以进一步为我们的 todo-item 组件实现更复杂的模板和逻辑的改进，而不会影响到父单元。</a:t>
            </a:r>
            <a:endParaRPr lang="zh-CN" altLang="en-US"/>
          </a:p>
          <a:p>
            <a:r>
              <a:rPr lang="zh-CN" altLang="en-US"/>
              <a:t>在一个大型应用中，有必要将整个应用程序划分为组件，以使开发可管理。</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35AF454-C1DB-447C-9EEC-A5F3AC4DF9C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2" name="Title Placeholder 1"/>
          <p:cNvSpPr>
            <a:spLocks noGrp="1"/>
          </p:cNvSpPr>
          <p:nvPr>
            <p:ph type="title"/>
          </p:nvPr>
        </p:nvSpPr>
        <p:spPr>
          <a:xfrm>
            <a:off x="457200" y="438150"/>
            <a:ext cx="7620000" cy="422672"/>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6" name="Slide Number Placeholder 5"/>
          <p:cNvSpPr>
            <a:spLocks noGrp="1"/>
          </p:cNvSpPr>
          <p:nvPr>
            <p:ph type="sldNum" sz="quarter" idx="4"/>
          </p:nvPr>
        </p:nvSpPr>
        <p:spPr>
          <a:xfrm>
            <a:off x="8305800" y="285750"/>
            <a:ext cx="4572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38150"/>
            <a:ext cx="7620000" cy="422672"/>
          </a:xfrm>
        </p:spPr>
        <p:txBody>
          <a:bodyPr/>
          <a:lstStyle/>
          <a:p>
            <a:r>
              <a:rPr lang="en-US" smtClean="0"/>
              <a:t>Click to edit Master title style</a:t>
            </a:r>
            <a:endParaRPr lang="en-US"/>
          </a:p>
        </p:txBody>
      </p:sp>
      <p:sp>
        <p:nvSpPr>
          <p:cNvPr id="4" name="Footer Placeholder 3"/>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5" name="Slide Number Placeholder 4"/>
          <p:cNvSpPr>
            <a:spLocks noGrp="1"/>
          </p:cNvSpPr>
          <p:nvPr>
            <p:ph type="sldNum" sz="quarter" idx="12"/>
          </p:nvPr>
        </p:nvSpPr>
        <p:spPr/>
        <p:txBody>
          <a:bodyPr/>
          <a:lstStyle/>
          <a:p>
            <a:fld id="{8DF5134D-7C6B-4A7B-B28B-A8C75F870448}"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5" name="Slide Number Placeholder 4"/>
          <p:cNvSpPr>
            <a:spLocks noGrp="1"/>
          </p:cNvSpPr>
          <p:nvPr>
            <p:ph type="sldNum" sz="quarter" idx="12"/>
          </p:nvPr>
        </p:nvSpPr>
        <p:spPr/>
        <p:txBody>
          <a:bodyPr/>
          <a:lstStyle/>
          <a:p>
            <a:fld id="{8DF5134D-7C6B-4A7B-B28B-A8C75F870448}" type="slidenum">
              <a:rPr lang="en-US" smtClean="0"/>
            </a:fld>
            <a:endParaRPr lang="en-US" dirty="0"/>
          </a:p>
        </p:txBody>
      </p:sp>
      <p:sp>
        <p:nvSpPr>
          <p:cNvPr id="30" name="Picture Placeholder 29"/>
          <p:cNvSpPr>
            <a:spLocks noGrp="1"/>
          </p:cNvSpPr>
          <p:nvPr>
            <p:ph type="pic" sz="quarter" idx="13"/>
          </p:nvPr>
        </p:nvSpPr>
        <p:spPr>
          <a:xfrm>
            <a:off x="533400" y="1200150"/>
            <a:ext cx="1828800" cy="1518666"/>
          </a:xfrm>
          <a:prstGeom prst="rect">
            <a:avLst/>
          </a:prstGeom>
        </p:spPr>
        <p:txBody>
          <a:bodyPr>
            <a:normAutofit/>
          </a:bodyPr>
          <a:lstStyle>
            <a:lvl1pPr marL="0" indent="0" algn="ctr">
              <a:buFontTx/>
              <a:buNone/>
              <a:defRPr sz="1400"/>
            </a:lvl1pPr>
          </a:lstStyle>
          <a:p>
            <a:endParaRPr lang="en-US" dirty="0"/>
          </a:p>
        </p:txBody>
      </p:sp>
      <p:sp>
        <p:nvSpPr>
          <p:cNvPr id="32" name="Picture Placeholder 29"/>
          <p:cNvSpPr>
            <a:spLocks noGrp="1"/>
          </p:cNvSpPr>
          <p:nvPr>
            <p:ph type="pic" sz="quarter" idx="14"/>
          </p:nvPr>
        </p:nvSpPr>
        <p:spPr>
          <a:xfrm>
            <a:off x="2590800" y="1200150"/>
            <a:ext cx="1828800" cy="1518666"/>
          </a:xfrm>
          <a:prstGeom prst="rect">
            <a:avLst/>
          </a:prstGeom>
        </p:spPr>
        <p:txBody>
          <a:bodyPr>
            <a:normAutofit/>
          </a:bodyPr>
          <a:lstStyle>
            <a:lvl1pPr marL="0" indent="0" algn="ctr">
              <a:buFontTx/>
              <a:buNone/>
              <a:defRPr sz="1400"/>
            </a:lvl1pPr>
          </a:lstStyle>
          <a:p>
            <a:endParaRPr lang="en-US"/>
          </a:p>
        </p:txBody>
      </p:sp>
      <p:sp>
        <p:nvSpPr>
          <p:cNvPr id="34" name="Picture Placeholder 29"/>
          <p:cNvSpPr>
            <a:spLocks noGrp="1"/>
          </p:cNvSpPr>
          <p:nvPr>
            <p:ph type="pic" sz="quarter" idx="15"/>
          </p:nvPr>
        </p:nvSpPr>
        <p:spPr>
          <a:xfrm>
            <a:off x="4648200" y="1200150"/>
            <a:ext cx="1828800" cy="1518666"/>
          </a:xfrm>
          <a:prstGeom prst="rect">
            <a:avLst/>
          </a:prstGeom>
        </p:spPr>
        <p:txBody>
          <a:bodyPr>
            <a:normAutofit/>
          </a:bodyPr>
          <a:lstStyle>
            <a:lvl1pPr marL="0" indent="0" algn="ctr">
              <a:buFontTx/>
              <a:buNone/>
              <a:defRPr sz="1400"/>
            </a:lvl1pPr>
          </a:lstStyle>
          <a:p>
            <a:endParaRPr lang="en-US"/>
          </a:p>
        </p:txBody>
      </p:sp>
      <p:sp>
        <p:nvSpPr>
          <p:cNvPr id="36" name="Picture Placeholder 29"/>
          <p:cNvSpPr>
            <a:spLocks noGrp="1"/>
          </p:cNvSpPr>
          <p:nvPr>
            <p:ph type="pic" sz="quarter" idx="16"/>
          </p:nvPr>
        </p:nvSpPr>
        <p:spPr>
          <a:xfrm>
            <a:off x="6705600" y="1200150"/>
            <a:ext cx="1828800" cy="1518666"/>
          </a:xfrm>
          <a:prstGeom prst="rect">
            <a:avLst/>
          </a:prstGeom>
        </p:spPr>
        <p:txBody>
          <a:bodyPr>
            <a:normAutofit/>
          </a:bodyPr>
          <a:lstStyle>
            <a:lvl1pPr marL="0" indent="0" algn="ctr">
              <a:buFontTx/>
              <a:buNone/>
              <a:defRPr sz="1400"/>
            </a:lvl1pPr>
          </a:lstStyle>
          <a:p>
            <a:endParaRPr lang="en-US"/>
          </a:p>
        </p:txBody>
      </p:sp>
      <p:sp>
        <p:nvSpPr>
          <p:cNvPr id="39" name="Content Placeholder 37"/>
          <p:cNvSpPr>
            <a:spLocks noGrp="1"/>
          </p:cNvSpPr>
          <p:nvPr>
            <p:ph sz="quarter" idx="18"/>
          </p:nvPr>
        </p:nvSpPr>
        <p:spPr>
          <a:xfrm>
            <a:off x="2514600" y="3238500"/>
            <a:ext cx="1901952" cy="323850"/>
          </a:xfrm>
          <a:prstGeom prst="rect">
            <a:avLst/>
          </a:prstGeo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US" dirty="0"/>
          </a:p>
        </p:txBody>
      </p:sp>
      <p:sp>
        <p:nvSpPr>
          <p:cNvPr id="40" name="Content Placeholder 37"/>
          <p:cNvSpPr>
            <a:spLocks noGrp="1"/>
          </p:cNvSpPr>
          <p:nvPr>
            <p:ph sz="quarter" idx="19"/>
          </p:nvPr>
        </p:nvSpPr>
        <p:spPr>
          <a:xfrm>
            <a:off x="4572000" y="3238500"/>
            <a:ext cx="1901952" cy="323850"/>
          </a:xfrm>
          <a:prstGeom prst="rect">
            <a:avLst/>
          </a:prstGeo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US" dirty="0"/>
          </a:p>
        </p:txBody>
      </p:sp>
      <p:sp>
        <p:nvSpPr>
          <p:cNvPr id="41" name="Content Placeholder 37"/>
          <p:cNvSpPr>
            <a:spLocks noGrp="1"/>
          </p:cNvSpPr>
          <p:nvPr>
            <p:ph sz="quarter" idx="20"/>
          </p:nvPr>
        </p:nvSpPr>
        <p:spPr>
          <a:xfrm>
            <a:off x="6629400" y="3238500"/>
            <a:ext cx="1901952" cy="323850"/>
          </a:xfrm>
          <a:prstGeom prst="rect">
            <a:avLst/>
          </a:prstGeo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US" dirty="0"/>
          </a:p>
        </p:txBody>
      </p:sp>
      <p:sp>
        <p:nvSpPr>
          <p:cNvPr id="37" name="Content Placeholder 37"/>
          <p:cNvSpPr>
            <a:spLocks noGrp="1"/>
          </p:cNvSpPr>
          <p:nvPr>
            <p:ph sz="quarter" idx="21"/>
          </p:nvPr>
        </p:nvSpPr>
        <p:spPr>
          <a:xfrm>
            <a:off x="457200" y="3238500"/>
            <a:ext cx="1901952" cy="323850"/>
          </a:xfrm>
          <a:prstGeom prst="rect">
            <a:avLst/>
          </a:prstGeo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US" dirty="0"/>
          </a:p>
        </p:txBody>
      </p:sp>
      <p:sp>
        <p:nvSpPr>
          <p:cNvPr id="25" name="Content Placeholder 37"/>
          <p:cNvSpPr>
            <a:spLocks noGrp="1"/>
          </p:cNvSpPr>
          <p:nvPr>
            <p:ph sz="quarter" idx="26"/>
          </p:nvPr>
        </p:nvSpPr>
        <p:spPr>
          <a:xfrm>
            <a:off x="2514600" y="3486150"/>
            <a:ext cx="1901952" cy="990600"/>
          </a:xfrm>
          <a:prstGeom prst="rect">
            <a:avLst/>
          </a:prstGeom>
        </p:spPr>
        <p:txBody>
          <a:bodyPr>
            <a:noAutofit/>
          </a:bodyPr>
          <a:lstStyle>
            <a:lvl1pPr>
              <a:buNone/>
              <a:defRPr sz="1100"/>
            </a:lvl1pPr>
            <a:lvl2pPr>
              <a:defRPr sz="1600"/>
            </a:lvl2pPr>
            <a:lvl3pPr>
              <a:defRPr sz="1600"/>
            </a:lvl3pPr>
            <a:lvl4pPr>
              <a:defRPr sz="1600"/>
            </a:lvl4pPr>
            <a:lvl5pPr algn="ctr">
              <a:buNone/>
              <a:defRPr sz="1600"/>
            </a:lvl5pPr>
          </a:lstStyle>
          <a:p>
            <a:pPr lvl="0"/>
            <a:endParaRPr lang="en-US" dirty="0"/>
          </a:p>
        </p:txBody>
      </p:sp>
      <p:sp>
        <p:nvSpPr>
          <p:cNvPr id="28" name="Content Placeholder 37"/>
          <p:cNvSpPr>
            <a:spLocks noGrp="1"/>
          </p:cNvSpPr>
          <p:nvPr>
            <p:ph sz="quarter" idx="27"/>
          </p:nvPr>
        </p:nvSpPr>
        <p:spPr>
          <a:xfrm>
            <a:off x="4572000" y="3486150"/>
            <a:ext cx="1901952" cy="990600"/>
          </a:xfrm>
          <a:prstGeom prst="rect">
            <a:avLst/>
          </a:prstGeom>
        </p:spPr>
        <p:txBody>
          <a:bodyPr>
            <a:noAutofit/>
          </a:bodyPr>
          <a:lstStyle>
            <a:lvl1pPr>
              <a:buNone/>
              <a:defRPr sz="1100"/>
            </a:lvl1pPr>
            <a:lvl2pPr>
              <a:defRPr sz="1600"/>
            </a:lvl2pPr>
            <a:lvl3pPr>
              <a:defRPr sz="1600"/>
            </a:lvl3pPr>
            <a:lvl4pPr>
              <a:defRPr sz="1600"/>
            </a:lvl4pPr>
            <a:lvl5pPr algn="ctr">
              <a:buNone/>
              <a:defRPr sz="1600"/>
            </a:lvl5pPr>
          </a:lstStyle>
          <a:p>
            <a:pPr lvl="0"/>
            <a:endParaRPr lang="en-US" dirty="0"/>
          </a:p>
        </p:txBody>
      </p:sp>
      <p:sp>
        <p:nvSpPr>
          <p:cNvPr id="29" name="Content Placeholder 37"/>
          <p:cNvSpPr>
            <a:spLocks noGrp="1"/>
          </p:cNvSpPr>
          <p:nvPr>
            <p:ph sz="quarter" idx="28"/>
          </p:nvPr>
        </p:nvSpPr>
        <p:spPr>
          <a:xfrm>
            <a:off x="6629400" y="3486150"/>
            <a:ext cx="1901952" cy="990600"/>
          </a:xfrm>
          <a:prstGeom prst="rect">
            <a:avLst/>
          </a:prstGeom>
        </p:spPr>
        <p:txBody>
          <a:bodyPr>
            <a:noAutofit/>
          </a:bodyPr>
          <a:lstStyle>
            <a:lvl1pPr>
              <a:buNone/>
              <a:defRPr sz="1100"/>
            </a:lvl1pPr>
            <a:lvl2pPr>
              <a:defRPr sz="1600"/>
            </a:lvl2pPr>
            <a:lvl3pPr>
              <a:defRPr sz="1600"/>
            </a:lvl3pPr>
            <a:lvl4pPr>
              <a:defRPr sz="1600"/>
            </a:lvl4pPr>
            <a:lvl5pPr algn="ctr">
              <a:buNone/>
              <a:defRPr sz="1600"/>
            </a:lvl5pPr>
          </a:lstStyle>
          <a:p>
            <a:pPr lvl="0"/>
            <a:endParaRPr lang="en-US" dirty="0"/>
          </a:p>
        </p:txBody>
      </p:sp>
      <p:sp>
        <p:nvSpPr>
          <p:cNvPr id="31" name="Content Placeholder 37"/>
          <p:cNvSpPr>
            <a:spLocks noGrp="1"/>
          </p:cNvSpPr>
          <p:nvPr>
            <p:ph sz="quarter" idx="29"/>
          </p:nvPr>
        </p:nvSpPr>
        <p:spPr>
          <a:xfrm>
            <a:off x="457200" y="3486150"/>
            <a:ext cx="1901952" cy="990600"/>
          </a:xfrm>
          <a:prstGeom prst="rect">
            <a:avLst/>
          </a:prstGeom>
        </p:spPr>
        <p:txBody>
          <a:bodyPr>
            <a:noAutofit/>
          </a:bodyPr>
          <a:lstStyle>
            <a:lvl1pPr>
              <a:buNone/>
              <a:defRPr sz="1100"/>
            </a:lvl1pPr>
            <a:lvl2pPr>
              <a:defRPr sz="1600"/>
            </a:lvl2pPr>
            <a:lvl3pPr>
              <a:defRPr sz="1600"/>
            </a:lvl3pPr>
            <a:lvl4pPr>
              <a:defRPr sz="1600"/>
            </a:lvl4pPr>
            <a:lvl5pPr algn="ctr">
              <a:buNone/>
              <a:defRPr sz="1600"/>
            </a:lvl5pPr>
          </a:lstStyle>
          <a:p>
            <a:pPr lvl="0"/>
            <a:endParaRPr lang="en-US" dirty="0"/>
          </a:p>
        </p:txBody>
      </p:sp>
      <p:sp>
        <p:nvSpPr>
          <p:cNvPr id="46" name="Text Placeholder 42"/>
          <p:cNvSpPr>
            <a:spLocks noGrp="1"/>
          </p:cNvSpPr>
          <p:nvPr>
            <p:ph type="body" sz="quarter" idx="25"/>
          </p:nvPr>
        </p:nvSpPr>
        <p:spPr>
          <a:xfrm>
            <a:off x="533400" y="2683764"/>
            <a:ext cx="1828800" cy="268986"/>
          </a:xfrm>
          <a:prstGeom prst="rect">
            <a:avLst/>
          </a:prstGeom>
          <a:solidFill>
            <a:srgbClr val="0070C0"/>
          </a:solidFill>
        </p:spPr>
        <p:txBody>
          <a:bodyPr anchor="ctr">
            <a:noAutofit/>
          </a:bodyPr>
          <a:lstStyle>
            <a:lvl1pPr>
              <a:buNone/>
              <a:defRPr sz="1400">
                <a:solidFill>
                  <a:schemeClr val="bg1"/>
                </a:solidFill>
                <a:latin typeface="Bebas Neue" pitchFamily="34" charset="0"/>
              </a:defRPr>
            </a:lvl1pPr>
          </a:lstStyle>
          <a:p>
            <a:pPr lvl="0"/>
            <a:endParaRPr lang="en-US" dirty="0"/>
          </a:p>
        </p:txBody>
      </p:sp>
      <p:sp>
        <p:nvSpPr>
          <p:cNvPr id="42" name="Text Placeholder 42"/>
          <p:cNvSpPr>
            <a:spLocks noGrp="1"/>
          </p:cNvSpPr>
          <p:nvPr>
            <p:ph type="body" sz="quarter" idx="30"/>
          </p:nvPr>
        </p:nvSpPr>
        <p:spPr>
          <a:xfrm>
            <a:off x="2590800" y="2683764"/>
            <a:ext cx="1828800" cy="268986"/>
          </a:xfrm>
          <a:prstGeom prst="rect">
            <a:avLst/>
          </a:prstGeom>
          <a:solidFill>
            <a:srgbClr val="0070C0"/>
          </a:solidFill>
        </p:spPr>
        <p:txBody>
          <a:bodyPr anchor="ctr">
            <a:noAutofit/>
          </a:bodyPr>
          <a:lstStyle>
            <a:lvl1pPr>
              <a:buNone/>
              <a:defRPr sz="1400">
                <a:solidFill>
                  <a:schemeClr val="bg1"/>
                </a:solidFill>
                <a:latin typeface="Bebas Neue" pitchFamily="34" charset="0"/>
              </a:defRPr>
            </a:lvl1pPr>
          </a:lstStyle>
          <a:p>
            <a:pPr lvl="0"/>
            <a:endParaRPr lang="en-US" dirty="0"/>
          </a:p>
        </p:txBody>
      </p:sp>
      <p:sp>
        <p:nvSpPr>
          <p:cNvPr id="47" name="Text Placeholder 42"/>
          <p:cNvSpPr>
            <a:spLocks noGrp="1"/>
          </p:cNvSpPr>
          <p:nvPr>
            <p:ph type="body" sz="quarter" idx="31"/>
          </p:nvPr>
        </p:nvSpPr>
        <p:spPr>
          <a:xfrm>
            <a:off x="4648200" y="2683764"/>
            <a:ext cx="1828800" cy="268986"/>
          </a:xfrm>
          <a:prstGeom prst="rect">
            <a:avLst/>
          </a:prstGeom>
          <a:solidFill>
            <a:srgbClr val="0070C0"/>
          </a:solidFill>
        </p:spPr>
        <p:txBody>
          <a:bodyPr anchor="ctr">
            <a:noAutofit/>
          </a:bodyPr>
          <a:lstStyle>
            <a:lvl1pPr>
              <a:buNone/>
              <a:defRPr sz="1400">
                <a:solidFill>
                  <a:schemeClr val="bg1"/>
                </a:solidFill>
                <a:latin typeface="Bebas Neue" pitchFamily="34" charset="0"/>
              </a:defRPr>
            </a:lvl1pPr>
          </a:lstStyle>
          <a:p>
            <a:pPr lvl="0"/>
            <a:endParaRPr lang="en-US" dirty="0"/>
          </a:p>
        </p:txBody>
      </p:sp>
      <p:sp>
        <p:nvSpPr>
          <p:cNvPr id="48" name="Text Placeholder 42"/>
          <p:cNvSpPr>
            <a:spLocks noGrp="1"/>
          </p:cNvSpPr>
          <p:nvPr>
            <p:ph type="body" sz="quarter" idx="32"/>
          </p:nvPr>
        </p:nvSpPr>
        <p:spPr>
          <a:xfrm>
            <a:off x="6705600" y="2683764"/>
            <a:ext cx="1828800" cy="268986"/>
          </a:xfrm>
          <a:prstGeom prst="rect">
            <a:avLst/>
          </a:prstGeom>
          <a:solidFill>
            <a:srgbClr val="0070C0"/>
          </a:solidFill>
        </p:spPr>
        <p:txBody>
          <a:bodyPr anchor="ctr">
            <a:noAutofit/>
          </a:bodyPr>
          <a:lstStyle>
            <a:lvl1pPr>
              <a:buNone/>
              <a:defRPr sz="1400">
                <a:solidFill>
                  <a:schemeClr val="bg1"/>
                </a:solidFill>
                <a:latin typeface="Bebas Neue" pitchFamily="34" charset="0"/>
              </a:defRPr>
            </a:lvl1pPr>
          </a:lstStyle>
          <a:p>
            <a:pPr lvl="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438150"/>
            <a:ext cx="7620000" cy="422672"/>
          </a:xfrm>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5" name="Slide Number Placeholder 4"/>
          <p:cNvSpPr>
            <a:spLocks noGrp="1"/>
          </p:cNvSpPr>
          <p:nvPr>
            <p:ph type="sldNum" sz="quarter" idx="12"/>
          </p:nvPr>
        </p:nvSpPr>
        <p:spPr/>
        <p:txBody>
          <a:bodyPr/>
          <a:lstStyle/>
          <a:p>
            <a:fld id="{8DF5134D-7C6B-4A7B-B28B-A8C75F870448}" type="slidenum">
              <a:rPr lang="en-US" smtClean="0"/>
            </a:fld>
            <a:endParaRPr lang="en-US"/>
          </a:p>
        </p:txBody>
      </p:sp>
      <p:sp>
        <p:nvSpPr>
          <p:cNvPr id="10" name="Text Placeholder 9"/>
          <p:cNvSpPr>
            <a:spLocks noGrp="1"/>
          </p:cNvSpPr>
          <p:nvPr>
            <p:ph type="body" sz="quarter" idx="13"/>
          </p:nvPr>
        </p:nvSpPr>
        <p:spPr>
          <a:xfrm>
            <a:off x="457200" y="990600"/>
            <a:ext cx="8229600" cy="514350"/>
          </a:xfrm>
          <a:prstGeom prst="rect">
            <a:avLst/>
          </a:prstGeom>
        </p:spPr>
        <p:txBody>
          <a:bodyPr>
            <a:noAutofit/>
          </a:bodyPr>
          <a:lstStyle>
            <a:lvl1pPr>
              <a:buNone/>
              <a:defRPr sz="1200"/>
            </a:lvl1pPr>
            <a:lvl2pPr>
              <a:defRPr sz="1600"/>
            </a:lvl2pPr>
            <a:lvl3pPr>
              <a:defRPr sz="1600"/>
            </a:lvl3pPr>
            <a:lvl4pPr>
              <a:defRPr sz="1600"/>
            </a:lvl4pPr>
            <a:lvl5pPr>
              <a:defRPr sz="1600"/>
            </a:lvl5pPr>
          </a:lstStyle>
          <a:p>
            <a:pPr lvl="0"/>
            <a:endParaRPr lang="en-US" dirty="0"/>
          </a:p>
        </p:txBody>
      </p:sp>
      <p:sp>
        <p:nvSpPr>
          <p:cNvPr id="12" name="Picture Placeholder 11"/>
          <p:cNvSpPr>
            <a:spLocks noGrp="1"/>
          </p:cNvSpPr>
          <p:nvPr>
            <p:ph type="pic" sz="quarter" idx="14"/>
          </p:nvPr>
        </p:nvSpPr>
        <p:spPr>
          <a:xfrm>
            <a:off x="533400" y="1790700"/>
            <a:ext cx="4419600" cy="2457450"/>
          </a:xfrm>
          <a:prstGeom prst="rect">
            <a:avLst/>
          </a:prstGeom>
          <a:ln w="38100">
            <a:solidFill>
              <a:schemeClr val="bg1"/>
            </a:solidFill>
            <a:miter lim="800000"/>
          </a:ln>
          <a:effectLst/>
        </p:spPr>
        <p:txBody>
          <a:bodyPr>
            <a:normAutofit/>
          </a:bodyPr>
          <a:lstStyle>
            <a:lvl1pPr>
              <a:defRPr sz="1400"/>
            </a:lvl1pPr>
          </a:lstStyle>
          <a:p>
            <a:endParaRPr lang="en-US"/>
          </a:p>
        </p:txBody>
      </p:sp>
      <p:sp>
        <p:nvSpPr>
          <p:cNvPr id="16" name="Text Placeholder 13"/>
          <p:cNvSpPr>
            <a:spLocks noGrp="1"/>
          </p:cNvSpPr>
          <p:nvPr>
            <p:ph type="body" sz="quarter" idx="17"/>
          </p:nvPr>
        </p:nvSpPr>
        <p:spPr>
          <a:xfrm>
            <a:off x="5257800" y="3790950"/>
            <a:ext cx="3429000" cy="4572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
        <p:nvSpPr>
          <p:cNvPr id="17" name="Text Placeholder 13"/>
          <p:cNvSpPr>
            <a:spLocks noGrp="1"/>
          </p:cNvSpPr>
          <p:nvPr>
            <p:ph type="body" sz="quarter" idx="18"/>
          </p:nvPr>
        </p:nvSpPr>
        <p:spPr>
          <a:xfrm>
            <a:off x="5257800" y="2419350"/>
            <a:ext cx="3429000" cy="12192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
        <p:nvSpPr>
          <p:cNvPr id="18" name="Text Placeholder 13"/>
          <p:cNvSpPr>
            <a:spLocks noGrp="1"/>
          </p:cNvSpPr>
          <p:nvPr>
            <p:ph type="body" sz="quarter" idx="19"/>
          </p:nvPr>
        </p:nvSpPr>
        <p:spPr>
          <a:xfrm>
            <a:off x="5257800" y="1733550"/>
            <a:ext cx="3429000" cy="4572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and Bullet List">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0" y="1047750"/>
            <a:ext cx="9144000" cy="2819400"/>
          </a:xfrm>
          <a:prstGeom prst="rect">
            <a:avLst/>
          </a:prstGeom>
        </p:spPr>
        <p:txBody>
          <a:bodyPr>
            <a:normAutofit/>
          </a:bodyPr>
          <a:lstStyle>
            <a:lvl1pPr>
              <a:defRPr sz="1400"/>
            </a:lvl1pPr>
          </a:lstStyle>
          <a:p>
            <a:endParaRPr lang="en-US"/>
          </a:p>
        </p:txBody>
      </p:sp>
      <p:sp>
        <p:nvSpPr>
          <p:cNvPr id="2" name="Title 1"/>
          <p:cNvSpPr>
            <a:spLocks noGrp="1"/>
          </p:cNvSpPr>
          <p:nvPr>
            <p:ph type="title"/>
          </p:nvPr>
        </p:nvSpPr>
        <p:spPr>
          <a:xfrm>
            <a:off x="457200" y="438150"/>
            <a:ext cx="7620000" cy="422672"/>
          </a:xfrm>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5" name="Slide Number Placeholder 4"/>
          <p:cNvSpPr>
            <a:spLocks noGrp="1"/>
          </p:cNvSpPr>
          <p:nvPr>
            <p:ph type="sldNum" sz="quarter" idx="12"/>
          </p:nvPr>
        </p:nvSpPr>
        <p:spPr/>
        <p:txBody>
          <a:bodyPr/>
          <a:lstStyle/>
          <a:p>
            <a:fld id="{8DF5134D-7C6B-4A7B-B28B-A8C75F870448}" type="slidenum">
              <a:rPr lang="en-US" smtClean="0"/>
            </a:fld>
            <a:endParaRPr lang="en-US"/>
          </a:p>
        </p:txBody>
      </p:sp>
      <p:sp>
        <p:nvSpPr>
          <p:cNvPr id="11" name="Content Placeholder 10"/>
          <p:cNvSpPr>
            <a:spLocks noGrp="1"/>
          </p:cNvSpPr>
          <p:nvPr>
            <p:ph sz="quarter" idx="13"/>
          </p:nvPr>
        </p:nvSpPr>
        <p:spPr>
          <a:xfrm>
            <a:off x="304800" y="4019550"/>
            <a:ext cx="8534400" cy="533400"/>
          </a:xfrm>
          <a:prstGeom prst="rect">
            <a:avLst/>
          </a:prstGeom>
        </p:spPr>
        <p:txBody>
          <a:bodyPr>
            <a:normAutofit/>
          </a:bodyPr>
          <a:lstStyle>
            <a:lvl1pPr>
              <a:buClr>
                <a:srgbClr val="0FCED3"/>
              </a:buClr>
              <a:buFontTx/>
              <a:buNone/>
              <a:defRPr sz="1100"/>
            </a:lvl1pPr>
          </a:lstStyle>
          <a:p>
            <a:pPr lvl="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ject Layout">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0" y="1123950"/>
            <a:ext cx="5181600" cy="3276600"/>
          </a:xfrm>
          <a:prstGeom prst="rect">
            <a:avLst/>
          </a:prstGeom>
          <a:effectLst/>
        </p:spPr>
        <p:txBody>
          <a:bodyPr>
            <a:normAutofit/>
          </a:bodyPr>
          <a:lstStyle>
            <a:lvl1pPr>
              <a:defRPr sz="1400"/>
            </a:lvl1pPr>
          </a:lstStyle>
          <a:p>
            <a:endParaRPr lang="en-US"/>
          </a:p>
        </p:txBody>
      </p:sp>
      <p:sp>
        <p:nvSpPr>
          <p:cNvPr id="2" name="Title 1"/>
          <p:cNvSpPr>
            <a:spLocks noGrp="1"/>
          </p:cNvSpPr>
          <p:nvPr>
            <p:ph type="title"/>
          </p:nvPr>
        </p:nvSpPr>
        <p:spPr>
          <a:xfrm>
            <a:off x="457200" y="438150"/>
            <a:ext cx="7620000" cy="422672"/>
          </a:xfrm>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a:xfrm>
            <a:off x="457200" y="4781550"/>
            <a:ext cx="6629400" cy="292894"/>
          </a:xfrm>
          <a:prstGeom prst="rect">
            <a:avLst/>
          </a:prstGeom>
        </p:spPr>
        <p:txBody>
          <a:bodyPr/>
          <a:lstStyle/>
          <a:p>
            <a:r>
              <a:rPr lang="en-US" dirty="0" smtClean="0"/>
              <a:t> </a:t>
            </a:r>
            <a:endParaRPr lang="en-US" dirty="0"/>
          </a:p>
        </p:txBody>
      </p:sp>
      <p:sp>
        <p:nvSpPr>
          <p:cNvPr id="5" name="Slide Number Placeholder 4"/>
          <p:cNvSpPr>
            <a:spLocks noGrp="1"/>
          </p:cNvSpPr>
          <p:nvPr>
            <p:ph type="sldNum" sz="quarter" idx="12"/>
          </p:nvPr>
        </p:nvSpPr>
        <p:spPr/>
        <p:txBody>
          <a:bodyPr/>
          <a:lstStyle/>
          <a:p>
            <a:fld id="{8DF5134D-7C6B-4A7B-B28B-A8C75F870448}" type="slidenum">
              <a:rPr lang="en-US" smtClean="0"/>
            </a:fld>
            <a:endParaRPr lang="en-US"/>
          </a:p>
        </p:txBody>
      </p:sp>
      <p:sp>
        <p:nvSpPr>
          <p:cNvPr id="11" name="Content Placeholder 38"/>
          <p:cNvSpPr>
            <a:spLocks noGrp="1"/>
          </p:cNvSpPr>
          <p:nvPr>
            <p:ph sz="quarter" idx="37"/>
          </p:nvPr>
        </p:nvSpPr>
        <p:spPr>
          <a:xfrm>
            <a:off x="5410200" y="1498854"/>
            <a:ext cx="2971800" cy="310896"/>
          </a:xfrm>
          <a:prstGeom prst="rect">
            <a:avLst/>
          </a:prstGeo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US" dirty="0"/>
          </a:p>
        </p:txBody>
      </p:sp>
      <p:sp>
        <p:nvSpPr>
          <p:cNvPr id="10" name="Content Placeholder 38"/>
          <p:cNvSpPr>
            <a:spLocks noGrp="1"/>
          </p:cNvSpPr>
          <p:nvPr>
            <p:ph sz="quarter" idx="36"/>
          </p:nvPr>
        </p:nvSpPr>
        <p:spPr>
          <a:xfrm>
            <a:off x="5410200" y="1143000"/>
            <a:ext cx="2438400" cy="361950"/>
          </a:xfrm>
          <a:prstGeom prst="rect">
            <a:avLst/>
          </a:prstGeom>
          <a:solidFill>
            <a:schemeClr val="tx1">
              <a:lumMod val="85000"/>
              <a:lumOff val="15000"/>
            </a:schemeClr>
          </a:solidFill>
          <a:ln>
            <a:noFill/>
          </a:ln>
        </p:spPr>
        <p:txBody>
          <a:bodyPr anchor="ctr">
            <a:noAutofit/>
          </a:bodyPr>
          <a:lstStyle>
            <a:lvl1pPr algn="l">
              <a:buNone/>
              <a:defRPr sz="1600" b="0">
                <a:solidFill>
                  <a:schemeClr val="bg1"/>
                </a:solidFill>
                <a:latin typeface="Bebas Neue" pitchFamily="34" charset="0"/>
              </a:defRPr>
            </a:lvl1pPr>
          </a:lstStyle>
          <a:p>
            <a:pPr lvl="0"/>
            <a:endParaRPr lang="en-US" dirty="0"/>
          </a:p>
        </p:txBody>
      </p:sp>
      <p:sp>
        <p:nvSpPr>
          <p:cNvPr id="17" name="Text Placeholder 13"/>
          <p:cNvSpPr>
            <a:spLocks noGrp="1"/>
          </p:cNvSpPr>
          <p:nvPr>
            <p:ph type="body" sz="quarter" idx="19"/>
          </p:nvPr>
        </p:nvSpPr>
        <p:spPr>
          <a:xfrm>
            <a:off x="5410200" y="2114550"/>
            <a:ext cx="3429000" cy="4572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
        <p:nvSpPr>
          <p:cNvPr id="18" name="Text Placeholder 13"/>
          <p:cNvSpPr>
            <a:spLocks noGrp="1"/>
          </p:cNvSpPr>
          <p:nvPr>
            <p:ph type="body" sz="quarter" idx="41"/>
          </p:nvPr>
        </p:nvSpPr>
        <p:spPr>
          <a:xfrm>
            <a:off x="5410200" y="2724150"/>
            <a:ext cx="3429000" cy="11430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
        <p:nvSpPr>
          <p:cNvPr id="19" name="Text Placeholder 13"/>
          <p:cNvSpPr>
            <a:spLocks noGrp="1"/>
          </p:cNvSpPr>
          <p:nvPr>
            <p:ph type="body" sz="quarter" idx="42"/>
          </p:nvPr>
        </p:nvSpPr>
        <p:spPr>
          <a:xfrm>
            <a:off x="5410200" y="3943350"/>
            <a:ext cx="3429000" cy="457200"/>
          </a:xfrm>
          <a:prstGeom prst="rect">
            <a:avLst/>
          </a:prstGeo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100"/>
            </a:lvl1pPr>
          </a:lstStyle>
          <a:p>
            <a:pPr lvl="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38150"/>
            <a:ext cx="7620000" cy="422672"/>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6" name="Slide Number Placeholder 5"/>
          <p:cNvSpPr>
            <a:spLocks noGrp="1"/>
          </p:cNvSpPr>
          <p:nvPr>
            <p:ph type="sldNum" sz="quarter" idx="4"/>
          </p:nvPr>
        </p:nvSpPr>
        <p:spPr>
          <a:xfrm>
            <a:off x="8305800" y="285750"/>
            <a:ext cx="4572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US" smtClean="0"/>
            </a:fld>
            <a:endParaRPr lang="en-US"/>
          </a:p>
        </p:txBody>
      </p:sp>
      <p:sp>
        <p:nvSpPr>
          <p:cNvPr id="8" name="Rectangle 7"/>
          <p:cNvSpPr/>
          <p:nvPr/>
        </p:nvSpPr>
        <p:spPr>
          <a:xfrm>
            <a:off x="0" y="419100"/>
            <a:ext cx="152400" cy="40005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userDrawn="1"/>
        </p:nvCxnSpPr>
        <p:spPr bwMode="auto">
          <a:xfrm>
            <a:off x="0" y="601662"/>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bwMode="auto">
          <a:xfrm>
            <a:off x="0" y="6477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hf sldNum="0" hdr="0" dt="0"/>
  <p:txStyles>
    <p:titleStyle>
      <a:lvl1pPr algn="l" defTabSz="914400" rtl="0" eaLnBrk="1" latinLnBrk="0" hangingPunct="1">
        <a:spcBef>
          <a:spcPct val="0"/>
        </a:spcBef>
        <a:buNone/>
        <a:defRPr sz="3600" kern="1200">
          <a:solidFill>
            <a:schemeClr val="tx1">
              <a:lumMod val="85000"/>
              <a:lumOff val="15000"/>
            </a:schemeClr>
          </a:solidFill>
          <a:latin typeface="Bebas Neue" pitchFamily="34" charset="0"/>
          <a:ea typeface="+mj-ea"/>
          <a:cs typeface="+mj-cs"/>
        </a:defRPr>
      </a:lvl1pPr>
    </p:titleStyle>
    <p:bodyStyle>
      <a:lvl1pPr marL="342900" indent="-342900" algn="l" defTabSz="914400" rtl="0" eaLnBrk="1" latinLnBrk="0" hangingPunct="1">
        <a:lnSpc>
          <a:spcPct val="110000"/>
        </a:lnSpc>
        <a:spcBef>
          <a:spcPts val="0"/>
        </a:spcBef>
        <a:buFont typeface="Arial" panose="020B0604020202020204" pitchFamily="34" charset="0"/>
        <a:buChar char="•"/>
        <a:defRPr sz="14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10000"/>
        </a:lnSpc>
        <a:spcBef>
          <a:spcPts val="0"/>
        </a:spcBef>
        <a:buFont typeface="Arial" panose="020B0604020202020204" pitchFamily="34" charset="0"/>
        <a:buChar char="–"/>
        <a:defRPr sz="14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10000"/>
        </a:lnSpc>
        <a:spcBef>
          <a:spcPts val="0"/>
        </a:spcBef>
        <a:buFont typeface="Arial" panose="020B0604020202020204" pitchFamily="34" charset="0"/>
        <a:buChar char="•"/>
        <a:defRPr sz="14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10000"/>
        </a:lnSpc>
        <a:spcBef>
          <a:spcPts val="0"/>
        </a:spcBef>
        <a:buFont typeface="Arial" panose="020B0604020202020204" pitchFamily="34" charset="0"/>
        <a:buChar char="–"/>
        <a:defRPr sz="14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10000"/>
        </a:lnSpc>
        <a:spcBef>
          <a:spcPts val="0"/>
        </a:spcBef>
        <a:buFont typeface="Arial" panose="020B0604020202020204" pitchFamily="34" charset="0"/>
        <a:buChar char="»"/>
        <a:defRPr sz="14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0" y="4863606"/>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模板下载：</a:t>
            </a:r>
            <a:r>
              <a:rPr kumimoji="0" lang="en-US" altLang="zh-CN" sz="100" b="0" i="0" u="none" strike="noStrike" kern="0" cap="none" spc="0" normalizeH="0" baseline="0" noProof="0" dirty="0">
                <a:ln>
                  <a:noFill/>
                </a:ln>
                <a:solidFill>
                  <a:sysClr val="window" lastClr="FFFFFF"/>
                </a:solidFill>
                <a:effectLst/>
                <a:uLnTx/>
                <a:uFillTx/>
              </a:rPr>
              <a:t>www.1ppt.com/moban/     </a:t>
            </a:r>
            <a:r>
              <a:rPr kumimoji="0" lang="zh-CN" altLang="en-US" sz="100" b="0" i="0" u="none" strike="noStrike" kern="0" cap="none" spc="0" normalizeH="0" baseline="0" noProof="0" dirty="0">
                <a:ln>
                  <a:noFill/>
                </a:ln>
                <a:solidFill>
                  <a:sysClr val="window" lastClr="FFFFFF"/>
                </a:solidFill>
                <a:effectLst/>
                <a:uLnTx/>
                <a:uFillTx/>
              </a:rPr>
              <a:t>行业</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a:t>
            </a:r>
            <a:r>
              <a:rPr kumimoji="0" lang="en-US" altLang="zh-CN" sz="100" b="0" i="0" u="none" strike="noStrike" kern="0" cap="none" spc="0" normalizeH="0" baseline="0" noProof="0" dirty="0">
                <a:ln>
                  <a:noFill/>
                </a:ln>
                <a:solidFill>
                  <a:sysClr val="window" lastClr="FFFFFF"/>
                </a:solidFill>
                <a:effectLst/>
                <a:uLnTx/>
                <a:uFillTx/>
              </a:rPr>
              <a:t>www.1ppt.com/hangye/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ysClr val="window" lastClr="FFFFFF"/>
                </a:solidFill>
                <a:effectLst/>
                <a:uLnTx/>
                <a:uFillTx/>
              </a:rPr>
              <a:t>节日</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模板：</a:t>
            </a:r>
            <a:r>
              <a:rPr kumimoji="0" lang="en-US" altLang="zh-CN" sz="100" b="0" i="0" u="none" strike="noStrike" kern="0" cap="none" spc="0" normalizeH="0" baseline="0" noProof="0" dirty="0">
                <a:ln>
                  <a:noFill/>
                </a:ln>
                <a:solidFill>
                  <a:sysClr val="window" lastClr="FFFFFF"/>
                </a:solidFill>
                <a:effectLst/>
                <a:uLnTx/>
                <a:uFillTx/>
              </a:rPr>
              <a:t>www.1ppt.com/jieri/           PPT</a:t>
            </a:r>
            <a:r>
              <a:rPr kumimoji="0" lang="zh-CN" altLang="en-US" sz="100" b="0" i="0" u="none" strike="noStrike" kern="0" cap="none" spc="0" normalizeH="0" baseline="0" noProof="0" dirty="0">
                <a:ln>
                  <a:noFill/>
                </a:ln>
                <a:solidFill>
                  <a:sysClr val="window" lastClr="FFFFFF"/>
                </a:solidFill>
                <a:effectLst/>
                <a:uLnTx/>
                <a:uFillTx/>
              </a:rPr>
              <a:t>素材下载：</a:t>
            </a:r>
            <a:r>
              <a:rPr kumimoji="0" lang="en-US" altLang="zh-CN" sz="100" b="0" i="0" u="none" strike="noStrike" kern="0" cap="none" spc="0" normalizeH="0" baseline="0" noProof="0" dirty="0">
                <a:ln>
                  <a:noFill/>
                </a:ln>
                <a:solidFill>
                  <a:sysClr val="window" lastClr="FFFFFF"/>
                </a:solidFill>
                <a:effectLst/>
                <a:uLnTx/>
                <a:uFillTx/>
              </a:rPr>
              <a:t>www.1ppt.com/sucai/</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背景图片：</a:t>
            </a:r>
            <a:r>
              <a:rPr kumimoji="0" lang="en-US" altLang="zh-CN" sz="100" b="0" i="0" u="none" strike="noStrike" kern="0" cap="none" spc="0" normalizeH="0" baseline="0" noProof="0" dirty="0">
                <a:ln>
                  <a:noFill/>
                </a:ln>
                <a:solidFill>
                  <a:sysClr val="window" lastClr="FFFFFF"/>
                </a:solidFill>
                <a:effectLst/>
                <a:uLnTx/>
                <a:uFillTx/>
              </a:rPr>
              <a:t>www.1ppt.com/beijing/      PPT</a:t>
            </a:r>
            <a:r>
              <a:rPr kumimoji="0" lang="zh-CN" altLang="en-US" sz="100" b="0" i="0" u="none" strike="noStrike" kern="0" cap="none" spc="0" normalizeH="0" baseline="0" noProof="0" dirty="0">
                <a:ln>
                  <a:noFill/>
                </a:ln>
                <a:solidFill>
                  <a:sysClr val="window" lastClr="FFFFFF"/>
                </a:solidFill>
                <a:effectLst/>
                <a:uLnTx/>
                <a:uFillTx/>
              </a:rPr>
              <a:t>图表下载：</a:t>
            </a:r>
            <a:r>
              <a:rPr kumimoji="0" lang="en-US" altLang="zh-CN" sz="100" b="0" i="0" u="none" strike="noStrike" kern="0" cap="none" spc="0" normalizeH="0" baseline="0" noProof="0" dirty="0">
                <a:ln>
                  <a:noFill/>
                </a:ln>
                <a:solidFill>
                  <a:sysClr val="window" lastClr="FFFFFF"/>
                </a:solidFill>
                <a:effectLst/>
                <a:uLnTx/>
                <a:uFillTx/>
              </a:rPr>
              <a:t>www.1ppt.com/tubiao/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ysClr val="window" lastClr="FFFFFF"/>
                </a:solidFill>
                <a:effectLst/>
                <a:uLnTx/>
                <a:uFillTx/>
              </a:rPr>
              <a:t>优秀</a:t>
            </a:r>
            <a:r>
              <a:rPr kumimoji="0" lang="en-US" altLang="zh-CN" sz="100" b="0" i="0" u="none" strike="noStrike" kern="0" cap="none" spc="0" normalizeH="0" baseline="0" noProof="0" dirty="0">
                <a:ln>
                  <a:noFill/>
                </a:ln>
                <a:solidFill>
                  <a:sysClr val="window" lastClr="FFFFFF"/>
                </a:solidFill>
                <a:effectLst/>
                <a:uLnTx/>
                <a:uFillTx/>
              </a:rPr>
              <a:t>PPT</a:t>
            </a:r>
            <a:r>
              <a:rPr kumimoji="0" lang="zh-CN" altLang="en-US" sz="100" b="0" i="0" u="none" strike="noStrike" kern="0" cap="none" spc="0" normalizeH="0" baseline="0" noProof="0" dirty="0">
                <a:ln>
                  <a:noFill/>
                </a:ln>
                <a:solidFill>
                  <a:sysClr val="window" lastClr="FFFFFF"/>
                </a:solidFill>
                <a:effectLst/>
                <a:uLnTx/>
                <a:uFillTx/>
              </a:rPr>
              <a:t>下载：</a:t>
            </a:r>
            <a:r>
              <a:rPr kumimoji="0" lang="en-US" altLang="zh-CN" sz="100" b="0" i="0" u="none" strike="noStrike" kern="0" cap="none" spc="0" normalizeH="0" baseline="0" noProof="0" dirty="0">
                <a:ln>
                  <a:noFill/>
                </a:ln>
                <a:solidFill>
                  <a:sysClr val="window" lastClr="FFFFFF"/>
                </a:solidFill>
                <a:effectLst/>
                <a:uLnTx/>
                <a:uFillTx/>
              </a:rPr>
              <a:t>www.1ppt.com/xiazai/        PPT</a:t>
            </a:r>
            <a:r>
              <a:rPr kumimoji="0" lang="zh-CN" altLang="en-US" sz="100" b="0" i="0" u="none" strike="noStrike" kern="0" cap="none" spc="0" normalizeH="0" baseline="0" noProof="0" dirty="0">
                <a:ln>
                  <a:noFill/>
                </a:ln>
                <a:solidFill>
                  <a:sysClr val="window" lastClr="FFFFFF"/>
                </a:solidFill>
                <a:effectLst/>
                <a:uLnTx/>
                <a:uFillTx/>
              </a:rPr>
              <a:t>教程： </a:t>
            </a:r>
            <a:r>
              <a:rPr kumimoji="0" lang="en-US" altLang="zh-CN" sz="100" b="0" i="0" u="none" strike="noStrike" kern="0" cap="none" spc="0" normalizeH="0" baseline="0" noProof="0" dirty="0">
                <a:ln>
                  <a:noFill/>
                </a:ln>
                <a:solidFill>
                  <a:sysClr val="window" lastClr="FFFFFF"/>
                </a:solidFill>
                <a:effectLst/>
                <a:uLnTx/>
                <a:uFillTx/>
              </a:rPr>
              <a:t>www.1ppt.com/powerpoint/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ysClr val="window" lastClr="FFFFFF"/>
                </a:solidFill>
                <a:effectLst/>
                <a:uLnTx/>
                <a:uFillTx/>
              </a:rPr>
              <a:t>Word</a:t>
            </a:r>
            <a:r>
              <a:rPr kumimoji="0" lang="zh-CN" altLang="en-US" sz="100" b="0" i="0" u="none" strike="noStrike" kern="0" cap="none" spc="0" normalizeH="0" baseline="0" noProof="0" dirty="0">
                <a:ln>
                  <a:noFill/>
                </a:ln>
                <a:solidFill>
                  <a:sysClr val="window" lastClr="FFFFFF"/>
                </a:solidFill>
                <a:effectLst/>
                <a:uLnTx/>
                <a:uFillTx/>
              </a:rPr>
              <a:t>教程： </a:t>
            </a:r>
            <a:r>
              <a:rPr kumimoji="0" lang="en-US" altLang="zh-CN" sz="100" b="0" i="0" u="none" strike="noStrike" kern="0" cap="none" spc="0" normalizeH="0" baseline="0" noProof="0" dirty="0">
                <a:ln>
                  <a:noFill/>
                </a:ln>
                <a:solidFill>
                  <a:sysClr val="window" lastClr="FFFFFF"/>
                </a:solidFill>
                <a:effectLst/>
                <a:uLnTx/>
                <a:uFillTx/>
              </a:rPr>
              <a:t>www.1ppt.com/word/              Excel</a:t>
            </a:r>
            <a:r>
              <a:rPr kumimoji="0" lang="zh-CN" altLang="en-US" sz="100" b="0" i="0" u="none" strike="noStrike" kern="0" cap="none" spc="0" normalizeH="0" baseline="0" noProof="0" dirty="0">
                <a:ln>
                  <a:noFill/>
                </a:ln>
                <a:solidFill>
                  <a:sysClr val="window" lastClr="FFFFFF"/>
                </a:solidFill>
                <a:effectLst/>
                <a:uLnTx/>
                <a:uFillTx/>
              </a:rPr>
              <a:t>教程：</a:t>
            </a:r>
            <a:r>
              <a:rPr kumimoji="0" lang="en-US" altLang="zh-CN" sz="100" b="0" i="0" u="none" strike="noStrike" kern="0" cap="none" spc="0" normalizeH="0" baseline="0" noProof="0" dirty="0">
                <a:ln>
                  <a:noFill/>
                </a:ln>
                <a:solidFill>
                  <a:sysClr val="window" lastClr="FFFFFF"/>
                </a:solidFill>
                <a:effectLst/>
                <a:uLnTx/>
                <a:uFillTx/>
              </a:rPr>
              <a:t>www.1ppt.com/excel/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ysClr val="window" lastClr="FFFFFF"/>
                </a:solidFill>
                <a:effectLst/>
                <a:uLnTx/>
                <a:uFillTx/>
              </a:rPr>
              <a:t>资料下载：</a:t>
            </a:r>
            <a:r>
              <a:rPr kumimoji="0" lang="en-US" altLang="zh-CN" sz="100" b="0" i="0" u="none" strike="noStrike" kern="0" cap="none" spc="0" normalizeH="0" baseline="0" noProof="0" dirty="0">
                <a:ln>
                  <a:noFill/>
                </a:ln>
                <a:solidFill>
                  <a:sysClr val="window" lastClr="FFFFFF"/>
                </a:solidFill>
                <a:effectLst/>
                <a:uLnTx/>
                <a:uFillTx/>
              </a:rPr>
              <a:t>www.1ppt.com/ziliao/                PPT</a:t>
            </a:r>
            <a:r>
              <a:rPr kumimoji="0" lang="zh-CN" altLang="en-US" sz="100" b="0" i="0" u="none" strike="noStrike" kern="0" cap="none" spc="0" normalizeH="0" baseline="0" noProof="0" dirty="0">
                <a:ln>
                  <a:noFill/>
                </a:ln>
                <a:solidFill>
                  <a:sysClr val="window" lastClr="FFFFFF"/>
                </a:solidFill>
                <a:effectLst/>
                <a:uLnTx/>
                <a:uFillTx/>
              </a:rPr>
              <a:t>课件下载：</a:t>
            </a:r>
            <a:r>
              <a:rPr kumimoji="0" lang="en-US" altLang="zh-CN" sz="100" b="0" i="0" u="none" strike="noStrike" kern="0" cap="none" spc="0" normalizeH="0" baseline="0" noProof="0" dirty="0">
                <a:ln>
                  <a:noFill/>
                </a:ln>
                <a:solidFill>
                  <a:sysClr val="window" lastClr="FFFFFF"/>
                </a:solidFill>
                <a:effectLst/>
                <a:uLnTx/>
                <a:uFillTx/>
              </a:rPr>
              <a:t>www.1ppt.com/kejian/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ysClr val="window" lastClr="FFFFFF"/>
                </a:solidFill>
                <a:effectLst/>
                <a:uLnTx/>
                <a:uFillTx/>
              </a:rPr>
              <a:t>范文下载：</a:t>
            </a:r>
            <a:r>
              <a:rPr kumimoji="0" lang="en-US" altLang="zh-CN" sz="100" b="0" i="0" u="none" strike="noStrike" kern="0" cap="none" spc="0" normalizeH="0" baseline="0" noProof="0" dirty="0">
                <a:ln>
                  <a:noFill/>
                </a:ln>
                <a:solidFill>
                  <a:sysClr val="window" lastClr="FFFFFF"/>
                </a:solidFill>
                <a:effectLst/>
                <a:uLnTx/>
                <a:uFillTx/>
              </a:rPr>
              <a:t>www.1ppt.com/fanwen/             </a:t>
            </a:r>
            <a:r>
              <a:rPr kumimoji="0" lang="zh-CN" altLang="en-US" sz="100" b="0" i="0" u="none" strike="noStrike" kern="0" cap="none" spc="0" normalizeH="0" baseline="0" noProof="0" dirty="0">
                <a:ln>
                  <a:noFill/>
                </a:ln>
                <a:solidFill>
                  <a:sysClr val="window" lastClr="FFFFFF"/>
                </a:solidFill>
                <a:effectLst/>
                <a:uLnTx/>
                <a:uFillTx/>
              </a:rPr>
              <a:t>试卷下载：</a:t>
            </a:r>
            <a:r>
              <a:rPr kumimoji="0" lang="en-US" altLang="zh-CN" sz="100" b="0" i="0" u="none" strike="noStrike" kern="0" cap="none" spc="0" normalizeH="0" baseline="0" noProof="0" dirty="0">
                <a:ln>
                  <a:noFill/>
                </a:ln>
                <a:solidFill>
                  <a:sysClr val="window" lastClr="FFFFFF"/>
                </a:solidFill>
                <a:effectLst/>
                <a:uLnTx/>
                <a:uFillTx/>
              </a:rPr>
              <a:t>www.1ppt.com/shiti/  </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ysClr val="window" lastClr="FFFFFF"/>
                </a:solidFill>
                <a:effectLst/>
                <a:uLnTx/>
                <a:uFillTx/>
              </a:rPr>
              <a:t>教案下载：</a:t>
            </a:r>
            <a:r>
              <a:rPr kumimoji="0" lang="en-US" altLang="zh-CN" sz="100" b="0" i="0" u="none" strike="noStrike" kern="0" cap="none" spc="0" normalizeH="0" baseline="0" noProof="0" dirty="0">
                <a:ln>
                  <a:noFill/>
                </a:ln>
                <a:solidFill>
                  <a:sysClr val="window" lastClr="FFFFFF"/>
                </a:solidFill>
                <a:effectLst/>
                <a:uLnTx/>
                <a:uFillTx/>
              </a:rPr>
              <a:t>www.1ppt.com/jiaoan/  </a:t>
            </a:r>
            <a:r>
              <a:rPr kumimoji="0" lang="en-US" altLang="zh-CN" sz="100" b="0" i="0" u="none" strike="noStrike" kern="0" cap="none" spc="0" normalizeH="0" baseline="0" noProof="0" dirty="0" smtClean="0">
                <a:ln>
                  <a:noFill/>
                </a:ln>
                <a:solidFill>
                  <a:sysClr val="window" lastClr="FFFFFF"/>
                </a:solidFill>
                <a:effectLst/>
                <a:uLnTx/>
                <a:uFillTx/>
              </a:rPr>
              <a:t>      PPT</a:t>
            </a:r>
            <a:r>
              <a:rPr kumimoji="0" lang="zh-CN" altLang="en-US" sz="100" b="0" i="0" u="none" strike="noStrike" kern="0" cap="none" spc="0" normalizeH="0" baseline="0" noProof="0" dirty="0" smtClean="0">
                <a:ln>
                  <a:noFill/>
                </a:ln>
                <a:solidFill>
                  <a:sysClr val="window" lastClr="FFFFFF"/>
                </a:solidFill>
                <a:effectLst/>
                <a:uLnTx/>
                <a:uFillTx/>
              </a:rPr>
              <a:t>论坛：</a:t>
            </a:r>
            <a:r>
              <a:rPr kumimoji="0" lang="en-US" altLang="zh-CN" sz="100" b="0" i="0" u="none" strike="noStrike" kern="0" cap="none" spc="0" normalizeH="0" baseline="0" noProof="0" dirty="0" smtClean="0">
                <a:ln>
                  <a:noFill/>
                </a:ln>
                <a:solidFill>
                  <a:sysClr val="window" lastClr="FFFFFF"/>
                </a:solidFill>
                <a:effectLst/>
                <a:uLnTx/>
                <a:uFillTx/>
              </a:rPr>
              <a:t>www.1ppt.cn</a:t>
            </a:r>
            <a:endParaRPr kumimoji="0" lang="en-US" altLang="zh-CN" sz="100" b="0" i="0" u="none" strike="noStrike" kern="0" cap="none" spc="0" normalizeH="0" baseline="0" noProof="0" dirty="0">
              <a:ln>
                <a:noFill/>
              </a:ln>
              <a:solidFill>
                <a:sysClr val="window" lastClr="FFFFFF"/>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ysClr val="window" lastClr="FFFFFF"/>
                </a:solidFill>
                <a:effectLst/>
                <a:uLnTx/>
                <a:uFillTx/>
              </a:rPr>
              <a:t> </a:t>
            </a:r>
            <a:endParaRPr kumimoji="0" lang="zh-CN" altLang="en-US" sz="100" b="0" i="0" u="none" strike="noStrike" kern="0" cap="none" spc="0" normalizeH="0" baseline="0" noProof="0" dirty="0">
              <a:ln>
                <a:noFill/>
              </a:ln>
              <a:solidFill>
                <a:sysClr val="window" lastClr="FFFFFF"/>
              </a:solidFill>
              <a:effectLst/>
              <a:uLnTx/>
              <a:uFillTx/>
            </a:endParaRPr>
          </a:p>
        </p:txBody>
      </p:sp>
      <p:sp>
        <p:nvSpPr>
          <p:cNvPr id="16" name="椭圆 15"/>
          <p:cNvSpPr/>
          <p:nvPr/>
        </p:nvSpPr>
        <p:spPr>
          <a:xfrm>
            <a:off x="-684584" y="3363838"/>
            <a:ext cx="2448272" cy="2448272"/>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17" name="椭圆 16"/>
          <p:cNvSpPr/>
          <p:nvPr/>
        </p:nvSpPr>
        <p:spPr>
          <a:xfrm>
            <a:off x="2195736" y="4299942"/>
            <a:ext cx="1584176" cy="1584176"/>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20" name="椭圆 19"/>
          <p:cNvSpPr/>
          <p:nvPr/>
        </p:nvSpPr>
        <p:spPr>
          <a:xfrm>
            <a:off x="1982565" y="3723878"/>
            <a:ext cx="438268" cy="438268"/>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23" name="椭圆 22"/>
          <p:cNvSpPr/>
          <p:nvPr/>
        </p:nvSpPr>
        <p:spPr>
          <a:xfrm>
            <a:off x="7812360" y="3219822"/>
            <a:ext cx="2376264" cy="2376264"/>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3" name="椭圆 42"/>
          <p:cNvSpPr/>
          <p:nvPr/>
        </p:nvSpPr>
        <p:spPr>
          <a:xfrm>
            <a:off x="3561704" y="3721694"/>
            <a:ext cx="2387800" cy="2387800"/>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4" name="椭圆 43"/>
          <p:cNvSpPr/>
          <p:nvPr/>
        </p:nvSpPr>
        <p:spPr>
          <a:xfrm>
            <a:off x="7452320" y="3435846"/>
            <a:ext cx="936104" cy="936104"/>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5" name="椭圆 44"/>
          <p:cNvSpPr/>
          <p:nvPr/>
        </p:nvSpPr>
        <p:spPr>
          <a:xfrm>
            <a:off x="6156176" y="4422627"/>
            <a:ext cx="1605507" cy="1605507"/>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29" name="文本框 28"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txBox="1"/>
          <p:nvPr/>
        </p:nvSpPr>
        <p:spPr>
          <a:xfrm>
            <a:off x="3657288" y="2273919"/>
            <a:ext cx="1829435" cy="678815"/>
          </a:xfrm>
          <a:prstGeom prst="rect">
            <a:avLst/>
          </a:prstGeom>
          <a:noFill/>
        </p:spPr>
        <p:txBody>
          <a:bodyPr wrap="none" rtlCol="0">
            <a:spAutoFit/>
          </a:bodyPr>
          <a:lstStyle/>
          <a:p>
            <a:pPr algn="ctr"/>
            <a:r>
              <a:rPr lang="en-US" altLang="zh-CN" sz="3600" b="1" dirty="0">
                <a:solidFill>
                  <a:schemeClr val="accent1"/>
                </a:solidFill>
                <a:cs typeface="+mn-ea"/>
                <a:sym typeface="+mn-lt"/>
              </a:rPr>
              <a:t>Vue</a:t>
            </a:r>
            <a:r>
              <a:rPr lang="zh-CN" altLang="en-US" sz="3600" b="1" dirty="0">
                <a:solidFill>
                  <a:schemeClr val="accent1"/>
                </a:solidFill>
                <a:cs typeface="+mn-ea"/>
                <a:sym typeface="+mn-lt"/>
              </a:rPr>
              <a:t>进阶</a:t>
            </a:r>
            <a:endParaRPr lang="zh-CN" altLang="en-US" sz="3600" b="1" dirty="0">
              <a:solidFill>
                <a:schemeClr val="accent1"/>
              </a:solidFill>
              <a:cs typeface="+mn-ea"/>
              <a:sym typeface="+mn-lt"/>
            </a:endParaRPr>
          </a:p>
        </p:txBody>
      </p:sp>
      <p:sp>
        <p:nvSpPr>
          <p:cNvPr id="31" name="文本框 30"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txBox="1"/>
          <p:nvPr/>
        </p:nvSpPr>
        <p:spPr>
          <a:xfrm>
            <a:off x="2989193" y="923549"/>
            <a:ext cx="3165615" cy="1321435"/>
          </a:xfrm>
          <a:prstGeom prst="rect">
            <a:avLst/>
          </a:prstGeom>
          <a:noFill/>
        </p:spPr>
        <p:txBody>
          <a:bodyPr wrap="square" rtlCol="0">
            <a:spAutoFit/>
          </a:bodyPr>
          <a:lstStyle/>
          <a:p>
            <a:pPr algn="dist"/>
            <a:r>
              <a:rPr lang="en-US" sz="8000" b="1" dirty="0">
                <a:solidFill>
                  <a:schemeClr val="tx1">
                    <a:lumMod val="65000"/>
                    <a:lumOff val="35000"/>
                  </a:schemeClr>
                </a:solidFill>
                <a:cs typeface="+mn-ea"/>
                <a:sym typeface="+mn-lt"/>
              </a:rPr>
              <a:t>Vue.js</a:t>
            </a:r>
            <a:endParaRPr lang="zh-CN" altLang="en-US" sz="8000" b="1" dirty="0">
              <a:solidFill>
                <a:schemeClr val="tx1">
                  <a:lumMod val="65000"/>
                  <a:lumOff val="35000"/>
                </a:schemeClr>
              </a:solidFill>
              <a:cs typeface="+mn-ea"/>
              <a:sym typeface="+mn-lt"/>
            </a:endParaRPr>
          </a:p>
        </p:txBody>
      </p:sp>
      <p:sp>
        <p:nvSpPr>
          <p:cNvPr id="32" name="矩形 31"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1592746" y="3375115"/>
            <a:ext cx="5958509" cy="262890"/>
          </a:xfrm>
          <a:prstGeom prst="rect">
            <a:avLst/>
          </a:prstGeom>
        </p:spPr>
        <p:txBody>
          <a:bodyPr wrap="square">
            <a:spAutoFit/>
          </a:bodyPr>
          <a:lstStyle/>
          <a:p>
            <a:pPr algn="ctr"/>
            <a:r>
              <a:rPr lang="zh-CN" altLang="en-US" sz="1050" b="1" dirty="0">
                <a:solidFill>
                  <a:schemeClr val="tx1">
                    <a:lumMod val="65000"/>
                    <a:lumOff val="35000"/>
                  </a:schemeClr>
                </a:solidFill>
                <a:cs typeface="+mn-ea"/>
                <a:sym typeface="+mn-lt"/>
              </a:rPr>
              <a:t>讲师</a:t>
            </a:r>
            <a:r>
              <a:rPr lang="zh-CN" altLang="en-US" sz="1050" b="1" dirty="0" smtClean="0">
                <a:solidFill>
                  <a:schemeClr val="tx1">
                    <a:lumMod val="65000"/>
                    <a:lumOff val="35000"/>
                  </a:schemeClr>
                </a:solidFill>
                <a:cs typeface="+mn-ea"/>
                <a:sym typeface="+mn-lt"/>
              </a:rPr>
              <a:t>：张永涛</a:t>
            </a:r>
            <a:endParaRPr lang="zh-CN" altLang="en-US" sz="1050" b="1" dirty="0">
              <a:solidFill>
                <a:schemeClr val="accent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 calcmode="lin" valueType="num">
                                      <p:cBhvr>
                                        <p:cTn id="7" dur="300" fill="hold"/>
                                        <p:tgtEl>
                                          <p:spTgt spid="16"/>
                                        </p:tgtEl>
                                        <p:attrNameLst>
                                          <p:attrName>ppt_w</p:attrName>
                                        </p:attrNameLst>
                                      </p:cBhvr>
                                      <p:tavLst>
                                        <p:tav tm="0">
                                          <p:val>
                                            <p:fltVal val="0"/>
                                          </p:val>
                                        </p:tav>
                                        <p:tav tm="100000">
                                          <p:val>
                                            <p:strVal val="#ppt_w"/>
                                          </p:val>
                                        </p:tav>
                                      </p:tavLst>
                                    </p:anim>
                                    <p:anim calcmode="lin" valueType="num">
                                      <p:cBhvr>
                                        <p:cTn id="8" dur="300" fill="hold"/>
                                        <p:tgtEl>
                                          <p:spTgt spid="16"/>
                                        </p:tgtEl>
                                        <p:attrNameLst>
                                          <p:attrName>ppt_h</p:attrName>
                                        </p:attrNameLst>
                                      </p:cBhvr>
                                      <p:tavLst>
                                        <p:tav tm="0">
                                          <p:val>
                                            <p:fltVal val="0"/>
                                          </p:val>
                                        </p:tav>
                                        <p:tav tm="100000">
                                          <p:val>
                                            <p:strVal val="#ppt_h"/>
                                          </p:val>
                                        </p:tav>
                                      </p:tavLst>
                                    </p:anim>
                                    <p:animEffect transition="in" filter="fade">
                                      <p:cBhvr>
                                        <p:cTn id="9" dur="300"/>
                                        <p:tgtEl>
                                          <p:spTgt spid="16"/>
                                        </p:tgtEl>
                                      </p:cBhvr>
                                    </p:animEffect>
                                  </p:childTnLst>
                                </p:cTn>
                              </p:par>
                              <p:par>
                                <p:cTn id="10" presetID="6" presetClass="emph" presetSubtype="0" autoRev="1" fill="hold" grpId="1" nodeType="withEffect">
                                  <p:stCondLst>
                                    <p:cond delay="400"/>
                                  </p:stCondLst>
                                  <p:childTnLst>
                                    <p:animScale>
                                      <p:cBhvr>
                                        <p:cTn id="11" dur="150" fill="hold"/>
                                        <p:tgtEl>
                                          <p:spTgt spid="16"/>
                                        </p:tgtEl>
                                      </p:cBhvr>
                                      <p:by x="110000" y="110000"/>
                                    </p:animScale>
                                  </p:childTnLst>
                                </p:cTn>
                              </p:par>
                              <p:par>
                                <p:cTn id="12" presetID="53" presetClass="entr" presetSubtype="16" fill="hold" grpId="0" nodeType="withEffect">
                                  <p:stCondLst>
                                    <p:cond delay="600"/>
                                  </p:stCondLst>
                                  <p:childTnLst>
                                    <p:set>
                                      <p:cBhvr>
                                        <p:cTn id="13" dur="1" fill="hold">
                                          <p:stCondLst>
                                            <p:cond delay="0"/>
                                          </p:stCondLst>
                                        </p:cTn>
                                        <p:tgtEl>
                                          <p:spTgt spid="17"/>
                                        </p:tgtEl>
                                        <p:attrNameLst>
                                          <p:attrName>style.visibility</p:attrName>
                                        </p:attrNameLst>
                                      </p:cBhvr>
                                      <p:to>
                                        <p:strVal val="visible"/>
                                      </p:to>
                                    </p:set>
                                    <p:anim calcmode="lin" valueType="num">
                                      <p:cBhvr>
                                        <p:cTn id="14" dur="300" fill="hold"/>
                                        <p:tgtEl>
                                          <p:spTgt spid="17"/>
                                        </p:tgtEl>
                                        <p:attrNameLst>
                                          <p:attrName>ppt_w</p:attrName>
                                        </p:attrNameLst>
                                      </p:cBhvr>
                                      <p:tavLst>
                                        <p:tav tm="0">
                                          <p:val>
                                            <p:fltVal val="0"/>
                                          </p:val>
                                        </p:tav>
                                        <p:tav tm="100000">
                                          <p:val>
                                            <p:strVal val="#ppt_w"/>
                                          </p:val>
                                        </p:tav>
                                      </p:tavLst>
                                    </p:anim>
                                    <p:anim calcmode="lin" valueType="num">
                                      <p:cBhvr>
                                        <p:cTn id="15" dur="300" fill="hold"/>
                                        <p:tgtEl>
                                          <p:spTgt spid="17"/>
                                        </p:tgtEl>
                                        <p:attrNameLst>
                                          <p:attrName>ppt_h</p:attrName>
                                        </p:attrNameLst>
                                      </p:cBhvr>
                                      <p:tavLst>
                                        <p:tav tm="0">
                                          <p:val>
                                            <p:fltVal val="0"/>
                                          </p:val>
                                        </p:tav>
                                        <p:tav tm="100000">
                                          <p:val>
                                            <p:strVal val="#ppt_h"/>
                                          </p:val>
                                        </p:tav>
                                      </p:tavLst>
                                    </p:anim>
                                    <p:animEffect transition="in" filter="fade">
                                      <p:cBhvr>
                                        <p:cTn id="16" dur="300"/>
                                        <p:tgtEl>
                                          <p:spTgt spid="17"/>
                                        </p:tgtEl>
                                      </p:cBhvr>
                                    </p:animEffect>
                                  </p:childTnLst>
                                </p:cTn>
                              </p:par>
                              <p:par>
                                <p:cTn id="17" presetID="6" presetClass="emph" presetSubtype="0" autoRev="1" fill="hold" grpId="1" nodeType="withEffect">
                                  <p:stCondLst>
                                    <p:cond delay="900"/>
                                  </p:stCondLst>
                                  <p:childTnLst>
                                    <p:animScale>
                                      <p:cBhvr>
                                        <p:cTn id="18" dur="150" fill="hold"/>
                                        <p:tgtEl>
                                          <p:spTgt spid="17"/>
                                        </p:tgtEl>
                                      </p:cBhvr>
                                      <p:by x="110000" y="110000"/>
                                    </p:animScale>
                                  </p:childTnLst>
                                </p:cTn>
                              </p:par>
                              <p:par>
                                <p:cTn id="19" presetID="53" presetClass="entr" presetSubtype="16" fill="hold" grpId="0" nodeType="withEffect">
                                  <p:stCondLst>
                                    <p:cond delay="1100"/>
                                  </p:stCondLst>
                                  <p:childTnLst>
                                    <p:set>
                                      <p:cBhvr>
                                        <p:cTn id="20" dur="1" fill="hold">
                                          <p:stCondLst>
                                            <p:cond delay="0"/>
                                          </p:stCondLst>
                                        </p:cTn>
                                        <p:tgtEl>
                                          <p:spTgt spid="20"/>
                                        </p:tgtEl>
                                        <p:attrNameLst>
                                          <p:attrName>style.visibility</p:attrName>
                                        </p:attrNameLst>
                                      </p:cBhvr>
                                      <p:to>
                                        <p:strVal val="visible"/>
                                      </p:to>
                                    </p:set>
                                    <p:anim calcmode="lin" valueType="num">
                                      <p:cBhvr>
                                        <p:cTn id="21" dur="300" fill="hold"/>
                                        <p:tgtEl>
                                          <p:spTgt spid="20"/>
                                        </p:tgtEl>
                                        <p:attrNameLst>
                                          <p:attrName>ppt_w</p:attrName>
                                        </p:attrNameLst>
                                      </p:cBhvr>
                                      <p:tavLst>
                                        <p:tav tm="0">
                                          <p:val>
                                            <p:fltVal val="0"/>
                                          </p:val>
                                        </p:tav>
                                        <p:tav tm="100000">
                                          <p:val>
                                            <p:strVal val="#ppt_w"/>
                                          </p:val>
                                        </p:tav>
                                      </p:tavLst>
                                    </p:anim>
                                    <p:anim calcmode="lin" valueType="num">
                                      <p:cBhvr>
                                        <p:cTn id="22" dur="300" fill="hold"/>
                                        <p:tgtEl>
                                          <p:spTgt spid="20"/>
                                        </p:tgtEl>
                                        <p:attrNameLst>
                                          <p:attrName>ppt_h</p:attrName>
                                        </p:attrNameLst>
                                      </p:cBhvr>
                                      <p:tavLst>
                                        <p:tav tm="0">
                                          <p:val>
                                            <p:fltVal val="0"/>
                                          </p:val>
                                        </p:tav>
                                        <p:tav tm="100000">
                                          <p:val>
                                            <p:strVal val="#ppt_h"/>
                                          </p:val>
                                        </p:tav>
                                      </p:tavLst>
                                    </p:anim>
                                    <p:animEffect transition="in" filter="fade">
                                      <p:cBhvr>
                                        <p:cTn id="23" dur="300"/>
                                        <p:tgtEl>
                                          <p:spTgt spid="20"/>
                                        </p:tgtEl>
                                      </p:cBhvr>
                                    </p:animEffect>
                                  </p:childTnLst>
                                </p:cTn>
                              </p:par>
                              <p:par>
                                <p:cTn id="24" presetID="6" presetClass="emph" presetSubtype="0" autoRev="1" fill="hold" grpId="1" nodeType="withEffect">
                                  <p:stCondLst>
                                    <p:cond delay="1400"/>
                                  </p:stCondLst>
                                  <p:childTnLst>
                                    <p:animScale>
                                      <p:cBhvr>
                                        <p:cTn id="25" dur="150" fill="hold"/>
                                        <p:tgtEl>
                                          <p:spTgt spid="20"/>
                                        </p:tgtEl>
                                      </p:cBhvr>
                                      <p:by x="110000" y="110000"/>
                                    </p:animScale>
                                  </p:childTnLst>
                                </p:cTn>
                              </p:par>
                              <p:par>
                                <p:cTn id="26" presetID="53" presetClass="entr" presetSubtype="16" fill="hold" grpId="0" nodeType="withEffect">
                                  <p:stCondLst>
                                    <p:cond delay="1600"/>
                                  </p:stCondLst>
                                  <p:childTnLst>
                                    <p:set>
                                      <p:cBhvr>
                                        <p:cTn id="27" dur="1" fill="hold">
                                          <p:stCondLst>
                                            <p:cond delay="0"/>
                                          </p:stCondLst>
                                        </p:cTn>
                                        <p:tgtEl>
                                          <p:spTgt spid="23"/>
                                        </p:tgtEl>
                                        <p:attrNameLst>
                                          <p:attrName>style.visibility</p:attrName>
                                        </p:attrNameLst>
                                      </p:cBhvr>
                                      <p:to>
                                        <p:strVal val="visible"/>
                                      </p:to>
                                    </p:set>
                                    <p:anim calcmode="lin" valueType="num">
                                      <p:cBhvr>
                                        <p:cTn id="28" dur="300" fill="hold"/>
                                        <p:tgtEl>
                                          <p:spTgt spid="23"/>
                                        </p:tgtEl>
                                        <p:attrNameLst>
                                          <p:attrName>ppt_w</p:attrName>
                                        </p:attrNameLst>
                                      </p:cBhvr>
                                      <p:tavLst>
                                        <p:tav tm="0">
                                          <p:val>
                                            <p:fltVal val="0"/>
                                          </p:val>
                                        </p:tav>
                                        <p:tav tm="100000">
                                          <p:val>
                                            <p:strVal val="#ppt_w"/>
                                          </p:val>
                                        </p:tav>
                                      </p:tavLst>
                                    </p:anim>
                                    <p:anim calcmode="lin" valueType="num">
                                      <p:cBhvr>
                                        <p:cTn id="29" dur="300" fill="hold"/>
                                        <p:tgtEl>
                                          <p:spTgt spid="23"/>
                                        </p:tgtEl>
                                        <p:attrNameLst>
                                          <p:attrName>ppt_h</p:attrName>
                                        </p:attrNameLst>
                                      </p:cBhvr>
                                      <p:tavLst>
                                        <p:tav tm="0">
                                          <p:val>
                                            <p:fltVal val="0"/>
                                          </p:val>
                                        </p:tav>
                                        <p:tav tm="100000">
                                          <p:val>
                                            <p:strVal val="#ppt_h"/>
                                          </p:val>
                                        </p:tav>
                                      </p:tavLst>
                                    </p:anim>
                                    <p:animEffect transition="in" filter="fade">
                                      <p:cBhvr>
                                        <p:cTn id="30" dur="300"/>
                                        <p:tgtEl>
                                          <p:spTgt spid="23"/>
                                        </p:tgtEl>
                                      </p:cBhvr>
                                    </p:animEffect>
                                  </p:childTnLst>
                                </p:cTn>
                              </p:par>
                              <p:par>
                                <p:cTn id="31" presetID="6" presetClass="emph" presetSubtype="0" autoRev="1" fill="hold" grpId="1" nodeType="withEffect">
                                  <p:stCondLst>
                                    <p:cond delay="1900"/>
                                  </p:stCondLst>
                                  <p:childTnLst>
                                    <p:animScale>
                                      <p:cBhvr>
                                        <p:cTn id="32" dur="150" fill="hold"/>
                                        <p:tgtEl>
                                          <p:spTgt spid="23"/>
                                        </p:tgtEl>
                                      </p:cBhvr>
                                      <p:by x="110000" y="110000"/>
                                    </p:animScale>
                                  </p:childTnLst>
                                </p:cTn>
                              </p:par>
                              <p:par>
                                <p:cTn id="33" presetID="53" presetClass="entr" presetSubtype="16" fill="hold" grpId="0" nodeType="withEffect">
                                  <p:stCondLst>
                                    <p:cond delay="11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300" fill="hold"/>
                                        <p:tgtEl>
                                          <p:spTgt spid="43"/>
                                        </p:tgtEl>
                                        <p:attrNameLst>
                                          <p:attrName>ppt_w</p:attrName>
                                        </p:attrNameLst>
                                      </p:cBhvr>
                                      <p:tavLst>
                                        <p:tav tm="0">
                                          <p:val>
                                            <p:fltVal val="0"/>
                                          </p:val>
                                        </p:tav>
                                        <p:tav tm="100000">
                                          <p:val>
                                            <p:strVal val="#ppt_w"/>
                                          </p:val>
                                        </p:tav>
                                      </p:tavLst>
                                    </p:anim>
                                    <p:anim calcmode="lin" valueType="num">
                                      <p:cBhvr>
                                        <p:cTn id="36" dur="300" fill="hold"/>
                                        <p:tgtEl>
                                          <p:spTgt spid="43"/>
                                        </p:tgtEl>
                                        <p:attrNameLst>
                                          <p:attrName>ppt_h</p:attrName>
                                        </p:attrNameLst>
                                      </p:cBhvr>
                                      <p:tavLst>
                                        <p:tav tm="0">
                                          <p:val>
                                            <p:fltVal val="0"/>
                                          </p:val>
                                        </p:tav>
                                        <p:tav tm="100000">
                                          <p:val>
                                            <p:strVal val="#ppt_h"/>
                                          </p:val>
                                        </p:tav>
                                      </p:tavLst>
                                    </p:anim>
                                    <p:animEffect transition="in" filter="fade">
                                      <p:cBhvr>
                                        <p:cTn id="37" dur="300"/>
                                        <p:tgtEl>
                                          <p:spTgt spid="43"/>
                                        </p:tgtEl>
                                      </p:cBhvr>
                                    </p:animEffect>
                                  </p:childTnLst>
                                </p:cTn>
                              </p:par>
                              <p:par>
                                <p:cTn id="38" presetID="6" presetClass="emph" presetSubtype="0" autoRev="1" fill="hold" grpId="1" nodeType="withEffect">
                                  <p:stCondLst>
                                    <p:cond delay="1400"/>
                                  </p:stCondLst>
                                  <p:childTnLst>
                                    <p:animScale>
                                      <p:cBhvr>
                                        <p:cTn id="39" dur="150" fill="hold"/>
                                        <p:tgtEl>
                                          <p:spTgt spid="43"/>
                                        </p:tgtEl>
                                      </p:cBhvr>
                                      <p:by x="110000" y="110000"/>
                                    </p:animScale>
                                  </p:childTnLst>
                                </p:cTn>
                              </p:par>
                              <p:par>
                                <p:cTn id="40" presetID="53" presetClass="entr" presetSubtype="16" fill="hold" grpId="0" nodeType="withEffect">
                                  <p:stCondLst>
                                    <p:cond delay="600"/>
                                  </p:stCondLst>
                                  <p:childTnLst>
                                    <p:set>
                                      <p:cBhvr>
                                        <p:cTn id="41" dur="1" fill="hold">
                                          <p:stCondLst>
                                            <p:cond delay="0"/>
                                          </p:stCondLst>
                                        </p:cTn>
                                        <p:tgtEl>
                                          <p:spTgt spid="44"/>
                                        </p:tgtEl>
                                        <p:attrNameLst>
                                          <p:attrName>style.visibility</p:attrName>
                                        </p:attrNameLst>
                                      </p:cBhvr>
                                      <p:to>
                                        <p:strVal val="visible"/>
                                      </p:to>
                                    </p:set>
                                    <p:anim calcmode="lin" valueType="num">
                                      <p:cBhvr>
                                        <p:cTn id="42" dur="300" fill="hold"/>
                                        <p:tgtEl>
                                          <p:spTgt spid="44"/>
                                        </p:tgtEl>
                                        <p:attrNameLst>
                                          <p:attrName>ppt_w</p:attrName>
                                        </p:attrNameLst>
                                      </p:cBhvr>
                                      <p:tavLst>
                                        <p:tav tm="0">
                                          <p:val>
                                            <p:fltVal val="0"/>
                                          </p:val>
                                        </p:tav>
                                        <p:tav tm="100000">
                                          <p:val>
                                            <p:strVal val="#ppt_w"/>
                                          </p:val>
                                        </p:tav>
                                      </p:tavLst>
                                    </p:anim>
                                    <p:anim calcmode="lin" valueType="num">
                                      <p:cBhvr>
                                        <p:cTn id="43" dur="300" fill="hold"/>
                                        <p:tgtEl>
                                          <p:spTgt spid="44"/>
                                        </p:tgtEl>
                                        <p:attrNameLst>
                                          <p:attrName>ppt_h</p:attrName>
                                        </p:attrNameLst>
                                      </p:cBhvr>
                                      <p:tavLst>
                                        <p:tav tm="0">
                                          <p:val>
                                            <p:fltVal val="0"/>
                                          </p:val>
                                        </p:tav>
                                        <p:tav tm="100000">
                                          <p:val>
                                            <p:strVal val="#ppt_h"/>
                                          </p:val>
                                        </p:tav>
                                      </p:tavLst>
                                    </p:anim>
                                    <p:animEffect transition="in" filter="fade">
                                      <p:cBhvr>
                                        <p:cTn id="44" dur="300"/>
                                        <p:tgtEl>
                                          <p:spTgt spid="44"/>
                                        </p:tgtEl>
                                      </p:cBhvr>
                                    </p:animEffect>
                                  </p:childTnLst>
                                </p:cTn>
                              </p:par>
                              <p:par>
                                <p:cTn id="45" presetID="6" presetClass="emph" presetSubtype="0" autoRev="1" fill="hold" grpId="1" nodeType="withEffect">
                                  <p:stCondLst>
                                    <p:cond delay="900"/>
                                  </p:stCondLst>
                                  <p:childTnLst>
                                    <p:animScale>
                                      <p:cBhvr>
                                        <p:cTn id="46" dur="150" fill="hold"/>
                                        <p:tgtEl>
                                          <p:spTgt spid="44"/>
                                        </p:tgtEl>
                                      </p:cBhvr>
                                      <p:by x="110000" y="110000"/>
                                    </p:animScale>
                                  </p:childTnLst>
                                </p:cTn>
                              </p:par>
                              <p:par>
                                <p:cTn id="47" presetID="53" presetClass="entr" presetSubtype="16" fill="hold" grpId="0" nodeType="withEffect">
                                  <p:stCondLst>
                                    <p:cond delay="100"/>
                                  </p:stCondLst>
                                  <p:childTnLst>
                                    <p:set>
                                      <p:cBhvr>
                                        <p:cTn id="48" dur="1" fill="hold">
                                          <p:stCondLst>
                                            <p:cond delay="0"/>
                                          </p:stCondLst>
                                        </p:cTn>
                                        <p:tgtEl>
                                          <p:spTgt spid="45"/>
                                        </p:tgtEl>
                                        <p:attrNameLst>
                                          <p:attrName>style.visibility</p:attrName>
                                        </p:attrNameLst>
                                      </p:cBhvr>
                                      <p:to>
                                        <p:strVal val="visible"/>
                                      </p:to>
                                    </p:set>
                                    <p:anim calcmode="lin" valueType="num">
                                      <p:cBhvr>
                                        <p:cTn id="49" dur="300" fill="hold"/>
                                        <p:tgtEl>
                                          <p:spTgt spid="45"/>
                                        </p:tgtEl>
                                        <p:attrNameLst>
                                          <p:attrName>ppt_w</p:attrName>
                                        </p:attrNameLst>
                                      </p:cBhvr>
                                      <p:tavLst>
                                        <p:tav tm="0">
                                          <p:val>
                                            <p:fltVal val="0"/>
                                          </p:val>
                                        </p:tav>
                                        <p:tav tm="100000">
                                          <p:val>
                                            <p:strVal val="#ppt_w"/>
                                          </p:val>
                                        </p:tav>
                                      </p:tavLst>
                                    </p:anim>
                                    <p:anim calcmode="lin" valueType="num">
                                      <p:cBhvr>
                                        <p:cTn id="50" dur="300" fill="hold"/>
                                        <p:tgtEl>
                                          <p:spTgt spid="45"/>
                                        </p:tgtEl>
                                        <p:attrNameLst>
                                          <p:attrName>ppt_h</p:attrName>
                                        </p:attrNameLst>
                                      </p:cBhvr>
                                      <p:tavLst>
                                        <p:tav tm="0">
                                          <p:val>
                                            <p:fltVal val="0"/>
                                          </p:val>
                                        </p:tav>
                                        <p:tav tm="100000">
                                          <p:val>
                                            <p:strVal val="#ppt_h"/>
                                          </p:val>
                                        </p:tav>
                                      </p:tavLst>
                                    </p:anim>
                                    <p:animEffect transition="in" filter="fade">
                                      <p:cBhvr>
                                        <p:cTn id="51" dur="300"/>
                                        <p:tgtEl>
                                          <p:spTgt spid="45"/>
                                        </p:tgtEl>
                                      </p:cBhvr>
                                    </p:animEffect>
                                  </p:childTnLst>
                                </p:cTn>
                              </p:par>
                              <p:par>
                                <p:cTn id="52" presetID="6" presetClass="emph" presetSubtype="0" autoRev="1" fill="hold" grpId="1" nodeType="withEffect">
                                  <p:stCondLst>
                                    <p:cond delay="400"/>
                                  </p:stCondLst>
                                  <p:childTnLst>
                                    <p:animScale>
                                      <p:cBhvr>
                                        <p:cTn id="53" dur="150" fill="hold"/>
                                        <p:tgtEl>
                                          <p:spTgt spid="4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20" grpId="0" animBg="1"/>
      <p:bldP spid="20" grpId="1" animBg="1"/>
      <p:bldP spid="23" grpId="0" animBg="1"/>
      <p:bldP spid="23" grpId="1" animBg="1"/>
      <p:bldP spid="43" grpId="0" animBg="1"/>
      <p:bldP spid="43" grpId="1" animBg="1"/>
      <p:bldP spid="44" grpId="0" animBg="1"/>
      <p:bldP spid="44"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ltLang="zh-CN">
                <a:solidFill>
                  <a:srgbClr val="0070C0"/>
                </a:solidFill>
                <a:sym typeface="+mn-ea"/>
              </a:rPr>
              <a:t>Vue</a:t>
            </a:r>
            <a:r>
              <a:rPr lang="zh-CN" altLang="en-US">
                <a:solidFill>
                  <a:srgbClr val="0070C0"/>
                </a:solidFill>
                <a:sym typeface="+mn-ea"/>
              </a:rPr>
              <a:t>与其他框架的对比</a:t>
            </a:r>
            <a:endParaRPr lang="zh-CN" altLang="en-US">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12291" name="内容占位符 5"/>
          <p:cNvSpPr>
            <a:spLocks noGrp="1"/>
          </p:cNvSpPr>
          <p:nvPr/>
        </p:nvSpPr>
        <p:spPr>
          <a:xfrm>
            <a:off x="457200" y="1200150"/>
            <a:ext cx="7939405" cy="3514725"/>
          </a:xfrm>
          <a:prstGeom prst="rect">
            <a:avLst/>
          </a:prstGeom>
          <a:noFill/>
          <a:ln w="9525">
            <a:noFill/>
          </a:ln>
        </p:spPr>
        <p:txBody>
          <a:bodyPr vert="horz" wrap="square" lIns="91440" tIns="45720" rIns="91440" bIns="45720" anchor="t"/>
          <a:lstStyle>
            <a:lvl1pPr marL="342900" indent="-342900" algn="l" rtl="0" fontAlgn="base">
              <a:spcBef>
                <a:spcPct val="20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charset="0"/>
              </a:defRPr>
            </a:lvl1pPr>
            <a:lvl2pPr marL="742950" indent="-285750" algn="l" rtl="0" fontAlgn="base">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charset="0"/>
              </a:defRPr>
            </a:lvl2pPr>
            <a:lvl3pPr marL="1143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charset="0"/>
              </a:defRPr>
            </a:lvl3pPr>
            <a:lvl4pPr marL="1600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4pPr>
            <a:lvl5pPr marL="20574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9pPr>
          </a:lstStyle>
          <a:p>
            <a:pPr eaLnBrk="1" hangingPunct="1">
              <a:lnSpc>
                <a:spcPct val="150000"/>
              </a:lnSpc>
            </a:pPr>
            <a:endParaRPr lang="zh-CN" altLang="en-US" dirty="0"/>
          </a:p>
        </p:txBody>
      </p:sp>
      <p:sp>
        <p:nvSpPr>
          <p:cNvPr id="5" name="文本框 4"/>
          <p:cNvSpPr txBox="1"/>
          <p:nvPr/>
        </p:nvSpPr>
        <p:spPr>
          <a:xfrm>
            <a:off x="633095" y="1025525"/>
            <a:ext cx="7291705" cy="483235"/>
          </a:xfrm>
          <a:prstGeom prst="rect">
            <a:avLst/>
          </a:prstGeom>
          <a:noFill/>
        </p:spPr>
        <p:txBody>
          <a:bodyPr wrap="square" rtlCol="0">
            <a:spAutoFit/>
          </a:bodyPr>
          <a:p>
            <a:r>
              <a:rPr lang="zh-CN" altLang="en-US" sz="2400"/>
              <a:t>那些年，我们追过的框架们</a:t>
            </a:r>
            <a:endParaRPr lang="zh-CN" altLang="en-US" sz="2400"/>
          </a:p>
        </p:txBody>
      </p:sp>
      <p:sp>
        <p:nvSpPr>
          <p:cNvPr id="6" name="文本框 5"/>
          <p:cNvSpPr txBox="1"/>
          <p:nvPr/>
        </p:nvSpPr>
        <p:spPr>
          <a:xfrm>
            <a:off x="1132840" y="1508760"/>
            <a:ext cx="6944360" cy="3416300"/>
          </a:xfrm>
          <a:prstGeom prst="rect">
            <a:avLst/>
          </a:prstGeom>
          <a:noFill/>
        </p:spPr>
        <p:txBody>
          <a:bodyPr wrap="square" rtlCol="0">
            <a:spAutoFit/>
          </a:bodyPr>
          <a:p>
            <a:pPr>
              <a:lnSpc>
                <a:spcPct val="130000"/>
              </a:lnSpc>
            </a:pPr>
            <a:r>
              <a:rPr lang="en-US" altLang="zh-CN" sz="2400"/>
              <a:t>React.js</a:t>
            </a:r>
            <a:endParaRPr lang="en-US" altLang="zh-CN" sz="2400"/>
          </a:p>
          <a:p>
            <a:pPr>
              <a:lnSpc>
                <a:spcPct val="130000"/>
              </a:lnSpc>
            </a:pPr>
            <a:r>
              <a:rPr lang="en-US" altLang="zh-CN" sz="2400"/>
              <a:t>Angurlar</a:t>
            </a:r>
            <a:endParaRPr lang="en-US" altLang="zh-CN" sz="2400"/>
          </a:p>
          <a:p>
            <a:pPr>
              <a:lnSpc>
                <a:spcPct val="130000"/>
              </a:lnSpc>
            </a:pPr>
            <a:r>
              <a:rPr lang="en-US" altLang="zh-CN" sz="2400"/>
              <a:t>MUI</a:t>
            </a:r>
            <a:endParaRPr lang="en-US" altLang="zh-CN" sz="2400"/>
          </a:p>
          <a:p>
            <a:pPr>
              <a:lnSpc>
                <a:spcPct val="130000"/>
              </a:lnSpc>
            </a:pPr>
            <a:r>
              <a:rPr lang="en-US" altLang="zh-CN" sz="2400"/>
              <a:t>AmaziUI</a:t>
            </a:r>
            <a:endParaRPr lang="en-US" altLang="zh-CN" sz="2400"/>
          </a:p>
          <a:p>
            <a:pPr>
              <a:lnSpc>
                <a:spcPct val="130000"/>
              </a:lnSpc>
            </a:pPr>
            <a:r>
              <a:rPr lang="en-US" altLang="zh-CN" sz="2400"/>
              <a:t>BootStrap</a:t>
            </a:r>
            <a:endParaRPr lang="en-US" altLang="zh-CN" sz="2400"/>
          </a:p>
          <a:p>
            <a:pPr>
              <a:lnSpc>
                <a:spcPct val="130000"/>
              </a:lnSpc>
            </a:pPr>
            <a:r>
              <a:rPr lang="en-US" altLang="zh-CN" sz="2400"/>
              <a:t>Zepto</a:t>
            </a:r>
            <a:endParaRPr lang="en-US" altLang="zh-CN" sz="2400"/>
          </a:p>
          <a:p>
            <a:pPr>
              <a:lnSpc>
                <a:spcPct val="130000"/>
              </a:lnSpc>
            </a:pPr>
            <a:r>
              <a:rPr lang="zh-CN" altLang="en-US" sz="2400"/>
              <a:t>···</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t>
            </a:r>
            <a:r>
              <a:rPr lang="en-US" altLang="zh-CN">
                <a:solidFill>
                  <a:srgbClr val="0070C0"/>
                </a:solidFill>
                <a:sym typeface="+mn-ea"/>
              </a:rPr>
              <a:t>React</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578485" y="976630"/>
            <a:ext cx="7651115" cy="548640"/>
          </a:xfrm>
          <a:prstGeom prst="rect">
            <a:avLst/>
          </a:prstGeom>
          <a:noFill/>
        </p:spPr>
        <p:txBody>
          <a:bodyPr wrap="square" rtlCol="0">
            <a:spAutoFit/>
          </a:bodyPr>
          <a:p>
            <a:r>
              <a:rPr lang="zh-CN" altLang="en-US" sz="2800"/>
              <a:t>相似之处：</a:t>
            </a:r>
            <a:endParaRPr lang="zh-CN" altLang="en-US" sz="2800"/>
          </a:p>
        </p:txBody>
      </p:sp>
      <p:sp>
        <p:nvSpPr>
          <p:cNvPr id="5" name="文本框 4"/>
          <p:cNvSpPr txBox="1"/>
          <p:nvPr/>
        </p:nvSpPr>
        <p:spPr>
          <a:xfrm>
            <a:off x="834390" y="1642745"/>
            <a:ext cx="7700010" cy="2174240"/>
          </a:xfrm>
          <a:prstGeom prst="rect">
            <a:avLst/>
          </a:prstGeom>
          <a:noFill/>
        </p:spPr>
        <p:txBody>
          <a:bodyPr wrap="square" rtlCol="0">
            <a:spAutoFit/>
          </a:bodyPr>
          <a:p>
            <a:pPr marL="285750" indent="-285750">
              <a:lnSpc>
                <a:spcPct val="190000"/>
              </a:lnSpc>
              <a:buFont typeface="Arial" panose="020B0604020202020204" pitchFamily="34" charset="0"/>
              <a:buChar char="•"/>
            </a:pPr>
            <a:r>
              <a:rPr lang="zh-CN" altLang="en-US"/>
              <a:t>使用 Virtual DOM</a:t>
            </a:r>
            <a:endParaRPr lang="zh-CN" altLang="en-US"/>
          </a:p>
          <a:p>
            <a:pPr marL="285750" indent="-285750">
              <a:lnSpc>
                <a:spcPct val="190000"/>
              </a:lnSpc>
              <a:buFont typeface="Arial" panose="020B0604020202020204" pitchFamily="34" charset="0"/>
              <a:buChar char="•"/>
            </a:pPr>
            <a:r>
              <a:rPr lang="zh-CN" altLang="en-US"/>
              <a:t>提供了响应式（Reactive）和组件化（Composable）的视图组件。</a:t>
            </a:r>
            <a:endParaRPr lang="zh-CN" altLang="en-US"/>
          </a:p>
          <a:p>
            <a:pPr marL="285750" indent="-285750">
              <a:lnSpc>
                <a:spcPct val="190000"/>
              </a:lnSpc>
              <a:buFont typeface="Arial" panose="020B0604020202020204" pitchFamily="34" charset="0"/>
              <a:buChar char="•"/>
            </a:pPr>
            <a:r>
              <a:rPr lang="zh-CN" altLang="en-US"/>
              <a:t>将注意力集中保持在核心库，伴随于此，有配套的路由和负责处理全局状态管理的库。</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olidFill>
                  <a:srgbClr val="0070C0"/>
                </a:solidFill>
                <a:sym typeface="+mn-ea"/>
              </a:rPr>
              <a:t>vue</a:t>
            </a:r>
            <a:r>
              <a:rPr lang="zh-CN" altLang="en-US">
                <a:solidFill>
                  <a:srgbClr val="0070C0"/>
                </a:solidFill>
                <a:sym typeface="+mn-ea"/>
              </a:rPr>
              <a:t>与</a:t>
            </a:r>
            <a:r>
              <a:rPr lang="en-US" altLang="zh-CN">
                <a:solidFill>
                  <a:srgbClr val="0070C0"/>
                </a:solidFill>
                <a:sym typeface="+mn-ea"/>
              </a:rPr>
              <a:t>React</a:t>
            </a:r>
            <a:endParaRPr lang="zh-CN" altLang="en-US"/>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546100" y="1212215"/>
            <a:ext cx="7988300" cy="1955165"/>
          </a:xfrm>
          <a:prstGeom prst="rect">
            <a:avLst/>
          </a:prstGeom>
          <a:noFill/>
        </p:spPr>
        <p:txBody>
          <a:bodyPr wrap="square" rtlCol="0">
            <a:spAutoFit/>
          </a:bodyPr>
          <a:p>
            <a:pPr indent="0">
              <a:lnSpc>
                <a:spcPct val="140000"/>
              </a:lnSpc>
              <a:buFont typeface="Arial" panose="020B0604020202020204" pitchFamily="34" charset="0"/>
              <a:buNone/>
            </a:pPr>
            <a:r>
              <a:rPr lang="zh-CN" altLang="en-US"/>
              <a:t>我们从以下几个角度进行对比：</a:t>
            </a:r>
            <a:endParaRPr lang="zh-CN" altLang="en-US"/>
          </a:p>
          <a:p>
            <a:pPr marL="742950" lvl="1" indent="-285750">
              <a:lnSpc>
                <a:spcPct val="180000"/>
              </a:lnSpc>
              <a:buFont typeface="Arial" panose="020B0604020202020204" pitchFamily="34" charset="0"/>
              <a:buChar char="•"/>
            </a:pPr>
            <a:r>
              <a:rPr lang="zh-CN" altLang="en-US"/>
              <a:t>性能</a:t>
            </a:r>
            <a:endParaRPr lang="zh-CN" altLang="en-US"/>
          </a:p>
          <a:p>
            <a:pPr marL="742950" lvl="1" indent="-285750">
              <a:lnSpc>
                <a:spcPct val="180000"/>
              </a:lnSpc>
              <a:buFont typeface="Arial" panose="020B0604020202020204" pitchFamily="34" charset="0"/>
              <a:buChar char="•"/>
            </a:pPr>
            <a:r>
              <a:rPr lang="zh-CN" altLang="en-US"/>
              <a:t>HTML &amp; CSS</a:t>
            </a:r>
            <a:endParaRPr lang="zh-CN" altLang="en-US"/>
          </a:p>
          <a:p>
            <a:pPr marL="742950" lvl="1" indent="-285750">
              <a:lnSpc>
                <a:spcPct val="180000"/>
              </a:lnSpc>
              <a:buFont typeface="Arial" panose="020B0604020202020204" pitchFamily="34" charset="0"/>
              <a:buChar char="•"/>
            </a:pPr>
            <a:r>
              <a:rPr lang="zh-CN" altLang="en-US"/>
              <a:t>其他方面</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21640"/>
            <a:ext cx="7620000" cy="422672"/>
          </a:xfrm>
        </p:spPr>
        <p:txBody>
          <a:bodyPr/>
          <a:p>
            <a:pPr algn="l"/>
            <a:r>
              <a:rPr lang="zh-CN" altLang="en-US">
                <a:solidFill>
                  <a:srgbClr val="0070C0"/>
                </a:solidFill>
                <a:sym typeface="+mn-ea"/>
              </a:rPr>
              <a:t>性能</a:t>
            </a:r>
            <a:endParaRPr lang="zh-CN" altLang="en-US">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内容占位符 5"/>
          <p:cNvSpPr>
            <a:spLocks noGrp="1"/>
          </p:cNvSpPr>
          <p:nvPr/>
        </p:nvSpPr>
        <p:spPr>
          <a:xfrm>
            <a:off x="431800" y="1174750"/>
            <a:ext cx="7939405" cy="3514725"/>
          </a:xfrm>
          <a:prstGeom prst="rect">
            <a:avLst/>
          </a:prstGeom>
          <a:noFill/>
          <a:ln w="9525">
            <a:noFill/>
          </a:ln>
        </p:spPr>
        <p:txBody>
          <a:bodyPr vert="horz" wrap="square" lIns="91440" tIns="45720" rIns="91440" bIns="45720" anchor="t"/>
          <a:lstStyle>
            <a:lvl1pPr marL="342900" indent="-342900" algn="l" rtl="0" fontAlgn="base">
              <a:spcBef>
                <a:spcPct val="20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charset="0"/>
              </a:defRPr>
            </a:lvl1pPr>
            <a:lvl2pPr marL="742950" indent="-285750" algn="l" rtl="0" fontAlgn="base">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charset="0"/>
              </a:defRPr>
            </a:lvl2pPr>
            <a:lvl3pPr marL="1143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charset="0"/>
              </a:defRPr>
            </a:lvl3pPr>
            <a:lvl4pPr marL="1600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4pPr>
            <a:lvl5pPr marL="20574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sym typeface="Calibri" panose="020F0502020204030204" charset="0"/>
              </a:defRPr>
            </a:lvl9pPr>
          </a:lstStyle>
          <a:p>
            <a:pPr eaLnBrk="1" hangingPunct="1">
              <a:lnSpc>
                <a:spcPct val="150000"/>
              </a:lnSpc>
            </a:pPr>
            <a:endParaRPr sz="2400" dirty="0"/>
          </a:p>
        </p:txBody>
      </p:sp>
      <p:sp>
        <p:nvSpPr>
          <p:cNvPr id="4" name="文本框 3"/>
          <p:cNvSpPr txBox="1"/>
          <p:nvPr/>
        </p:nvSpPr>
        <p:spPr>
          <a:xfrm>
            <a:off x="603250" y="1033780"/>
            <a:ext cx="8083550" cy="384810"/>
          </a:xfrm>
          <a:prstGeom prst="rect">
            <a:avLst/>
          </a:prstGeom>
          <a:noFill/>
        </p:spPr>
        <p:txBody>
          <a:bodyPr wrap="square" rtlCol="0">
            <a:spAutoFit/>
          </a:bodyPr>
          <a:p>
            <a:r>
              <a:rPr lang="zh-CN" altLang="en-US"/>
              <a:t>到目前为止，针对现实情况的测试中，Vue 的性能是优于 React 的。</a:t>
            </a:r>
            <a:endParaRPr lang="zh-CN" altLang="en-US"/>
          </a:p>
        </p:txBody>
      </p:sp>
      <p:sp>
        <p:nvSpPr>
          <p:cNvPr id="7" name="文本框 6"/>
          <p:cNvSpPr txBox="1"/>
          <p:nvPr/>
        </p:nvSpPr>
        <p:spPr>
          <a:xfrm>
            <a:off x="638175" y="1612900"/>
            <a:ext cx="7667625" cy="384810"/>
          </a:xfrm>
          <a:prstGeom prst="rect">
            <a:avLst/>
          </a:prstGeom>
          <a:noFill/>
        </p:spPr>
        <p:txBody>
          <a:bodyPr wrap="square" rtlCol="0">
            <a:spAutoFit/>
          </a:bodyPr>
          <a:p>
            <a:r>
              <a:rPr lang="zh-CN" altLang="en-US"/>
              <a:t>我们从以下三个方面进行对比性能</a:t>
            </a:r>
            <a:endParaRPr lang="zh-CN" altLang="en-US"/>
          </a:p>
        </p:txBody>
      </p:sp>
      <p:sp>
        <p:nvSpPr>
          <p:cNvPr id="8" name="文本框 7"/>
          <p:cNvSpPr txBox="1"/>
          <p:nvPr/>
        </p:nvSpPr>
        <p:spPr>
          <a:xfrm>
            <a:off x="1146175" y="2044700"/>
            <a:ext cx="7667625" cy="1819275"/>
          </a:xfrm>
          <a:prstGeom prst="rect">
            <a:avLst/>
          </a:prstGeom>
          <a:noFill/>
        </p:spPr>
        <p:txBody>
          <a:bodyPr wrap="square" rtlCol="0">
            <a:spAutoFit/>
          </a:bodyPr>
          <a:p>
            <a:pPr marL="285750" indent="-285750">
              <a:lnSpc>
                <a:spcPct val="210000"/>
              </a:lnSpc>
              <a:buFont typeface="Arial" panose="020B0604020202020204" pitchFamily="34" charset="0"/>
              <a:buChar char="•"/>
            </a:pPr>
            <a:r>
              <a:rPr lang="zh-CN" altLang="en-US"/>
              <a:t>渲染性能</a:t>
            </a:r>
            <a:endParaRPr lang="zh-CN" altLang="en-US"/>
          </a:p>
          <a:p>
            <a:pPr marL="285750" indent="-285750">
              <a:lnSpc>
                <a:spcPct val="210000"/>
              </a:lnSpc>
              <a:buFont typeface="Arial" panose="020B0604020202020204" pitchFamily="34" charset="0"/>
              <a:buChar char="•"/>
            </a:pPr>
            <a:r>
              <a:rPr lang="zh-CN" altLang="en-US"/>
              <a:t>更新性能</a:t>
            </a:r>
            <a:endParaRPr lang="zh-CN" altLang="en-US"/>
          </a:p>
          <a:p>
            <a:pPr marL="285750" indent="-285750">
              <a:lnSpc>
                <a:spcPct val="210000"/>
              </a:lnSpc>
              <a:buFont typeface="Arial" panose="020B0604020202020204" pitchFamily="34" charset="0"/>
              <a:buChar char="•"/>
            </a:pPr>
            <a:r>
              <a:rPr lang="zh-CN" altLang="en-US"/>
              <a:t>开发中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5" grpId="0"/>
      <p:bldP spid="5" grpId="1"/>
      <p:bldP spid="5" grpId="2"/>
      <p:bldP spid="5" grpId="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C0"/>
                </a:solidFill>
                <a:sym typeface="+mn-ea"/>
              </a:rPr>
              <a:t>渲染性能</a:t>
            </a:r>
            <a:endParaRPr lang="zh-CN" altLang="en-US">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461645" y="1066165"/>
            <a:ext cx="8099425" cy="659130"/>
          </a:xfrm>
          <a:prstGeom prst="rect">
            <a:avLst/>
          </a:prstGeom>
          <a:noFill/>
        </p:spPr>
        <p:txBody>
          <a:bodyPr wrap="square" rtlCol="0">
            <a:spAutoFit/>
          </a:bodyPr>
          <a:p>
            <a:pPr indent="457200" fontAlgn="auto"/>
            <a:r>
              <a:rPr lang="zh-CN" altLang="en-US"/>
              <a:t>在渲染用户界面的时候，DOM 的操作成本是最高的，不幸的是没有库可以让这些原始操作变得更快。</a:t>
            </a:r>
            <a:endParaRPr lang="zh-CN" altLang="en-US"/>
          </a:p>
        </p:txBody>
      </p:sp>
      <p:sp>
        <p:nvSpPr>
          <p:cNvPr id="6" name="文本框 5"/>
          <p:cNvSpPr txBox="1"/>
          <p:nvPr/>
        </p:nvSpPr>
        <p:spPr>
          <a:xfrm>
            <a:off x="619125" y="1849120"/>
            <a:ext cx="7762875" cy="384810"/>
          </a:xfrm>
          <a:prstGeom prst="rect">
            <a:avLst/>
          </a:prstGeom>
          <a:noFill/>
        </p:spPr>
        <p:txBody>
          <a:bodyPr wrap="square" rtlCol="0">
            <a:spAutoFit/>
          </a:bodyPr>
          <a:p>
            <a:r>
              <a:rPr lang="zh-CN" altLang="en-US"/>
              <a:t>目前所做的最好效果：</a:t>
            </a:r>
            <a:endParaRPr lang="zh-CN" altLang="en-US"/>
          </a:p>
        </p:txBody>
      </p:sp>
      <p:sp>
        <p:nvSpPr>
          <p:cNvPr id="7" name="文本框 6"/>
          <p:cNvSpPr txBox="1"/>
          <p:nvPr/>
        </p:nvSpPr>
        <p:spPr>
          <a:xfrm>
            <a:off x="652145" y="2379345"/>
            <a:ext cx="7729855" cy="1599565"/>
          </a:xfrm>
          <a:prstGeom prst="rect">
            <a:avLst/>
          </a:prstGeom>
          <a:noFill/>
        </p:spPr>
        <p:txBody>
          <a:bodyPr wrap="square" rtlCol="0">
            <a:spAutoFit/>
          </a:bodyPr>
          <a:p>
            <a:pPr marL="342900" indent="-342900">
              <a:lnSpc>
                <a:spcPct val="110000"/>
              </a:lnSpc>
              <a:buAutoNum type="arabicPeriod"/>
            </a:pPr>
            <a:r>
              <a:rPr lang="zh-CN" altLang="en-US"/>
              <a:t>    把必须的 Dom 更新降到最小。React 和 Vue 都是通过 Virtual Dom 抽象层来实现这一要求，而且他们都实现得一样赞。</a:t>
            </a:r>
            <a:endParaRPr lang="zh-CN" altLang="en-US"/>
          </a:p>
          <a:p>
            <a:pPr marL="342900" indent="-342900">
              <a:lnSpc>
                <a:spcPct val="110000"/>
              </a:lnSpc>
              <a:buAutoNum type="arabicPeriod"/>
            </a:pPr>
            <a:endParaRPr lang="zh-CN" altLang="en-US"/>
          </a:p>
          <a:p>
            <a:pPr marL="342900" indent="-342900">
              <a:lnSpc>
                <a:spcPct val="110000"/>
              </a:lnSpc>
              <a:buAutoNum type="arabicPeriod"/>
            </a:pPr>
            <a:r>
              <a:rPr lang="zh-CN" altLang="en-US"/>
              <a:t>    在这些 Dom 操作之上，则尽可能少地添加额外性能开销（即：纯 JavaScript 运算）。这是 Vue 和 React 产生分歧之处。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1000" fill="hold"/>
                                        <p:tgtEl>
                                          <p:spTgt spid="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 calcmode="lin" valueType="num">
                                      <p:cBhvr>
                                        <p:cTn id="14" dur="1000" fill="hold"/>
                                        <p:tgtEl>
                                          <p:spTgt spid="7">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7">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C0"/>
                </a:solidFill>
                <a:sym typeface="+mn-ea"/>
              </a:rPr>
              <a:t>渲染性能</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7" name="文本框 6"/>
          <p:cNvSpPr txBox="1"/>
          <p:nvPr/>
        </p:nvSpPr>
        <p:spPr>
          <a:xfrm>
            <a:off x="610870" y="1115060"/>
            <a:ext cx="7694930" cy="933450"/>
          </a:xfrm>
          <a:prstGeom prst="rect">
            <a:avLst/>
          </a:prstGeom>
          <a:noFill/>
        </p:spPr>
        <p:txBody>
          <a:bodyPr wrap="square" rtlCol="0">
            <a:spAutoFit/>
          </a:bodyPr>
          <a:p>
            <a:r>
              <a:rPr lang="zh-CN" altLang="en-US"/>
              <a:t>JavaScript 开销直接与求算必要 DOM 操作的机制相关。尽管 Vue 和 React 都使用了 Virtual Dom 实现这一点，但 Vue 的 Virtual Dom 实现（复刻自 snabbdom）是更加轻量化的，因此也就比 React 的实现更高效。</a:t>
            </a:r>
            <a:endParaRPr lang="zh-CN" altLang="en-US"/>
          </a:p>
        </p:txBody>
      </p:sp>
      <p:pic>
        <p:nvPicPr>
          <p:cNvPr id="8" name="图片 7"/>
          <p:cNvPicPr>
            <a:picLocks noChangeAspect="1"/>
          </p:cNvPicPr>
          <p:nvPr/>
        </p:nvPicPr>
        <p:blipFill>
          <a:blip r:embed="rId1"/>
          <a:stretch>
            <a:fillRect/>
          </a:stretch>
        </p:blipFill>
        <p:spPr>
          <a:xfrm>
            <a:off x="2511425" y="1042035"/>
            <a:ext cx="3281680" cy="3677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70C0"/>
                </a:solidFill>
                <a:sym typeface="+mn-ea"/>
              </a:rPr>
              <a:t>更新性能</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472440" y="1049655"/>
            <a:ext cx="8138160" cy="1207770"/>
          </a:xfrm>
          <a:prstGeom prst="rect">
            <a:avLst/>
          </a:prstGeom>
          <a:noFill/>
        </p:spPr>
        <p:txBody>
          <a:bodyPr wrap="square" rtlCol="0">
            <a:spAutoFit/>
          </a:bodyPr>
          <a:p>
            <a:r>
              <a:rPr lang="zh-CN" altLang="en-US"/>
              <a:t>在 React 里，当某个组件的状态发生变化时，它会以该组件为根，重新渲染整个组件子树。</a:t>
            </a:r>
            <a:endParaRPr lang="zh-CN" altLang="en-US"/>
          </a:p>
          <a:p>
            <a:r>
              <a:rPr lang="zh-CN" altLang="en-US"/>
              <a:t>在 Vue 中，组件的依赖是在渲染过程中自动追踪的，所以系统能精确知晓哪个组件确实需要被重渲染。</a:t>
            </a:r>
            <a:endParaRPr lang="zh-CN" altLang="en-US"/>
          </a:p>
        </p:txBody>
      </p:sp>
      <p:sp>
        <p:nvSpPr>
          <p:cNvPr id="6" name="文本框 5"/>
          <p:cNvSpPr txBox="1"/>
          <p:nvPr/>
        </p:nvSpPr>
        <p:spPr>
          <a:xfrm>
            <a:off x="624840" y="2821305"/>
            <a:ext cx="7618095" cy="1027430"/>
          </a:xfrm>
          <a:prstGeom prst="rect">
            <a:avLst/>
          </a:prstGeom>
          <a:noFill/>
        </p:spPr>
        <p:txBody>
          <a:bodyPr wrap="square" rtlCol="0">
            <a:spAutoFit/>
          </a:bodyPr>
          <a:p>
            <a:r>
              <a:rPr lang="zh-CN" altLang="en-US" sz="2000"/>
              <a:t>这意味着，未经优化的 Vue 相比未经优化的 React 要快的多。由于 Vue 改进过渲染性能，甚至全面优化过的 React 通常也会慢于开箱即用的 Vue。</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70C0"/>
                </a:solidFill>
                <a:sym typeface="+mn-ea"/>
              </a:rPr>
              <a:t>开发中</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472440" y="1049655"/>
            <a:ext cx="8138160" cy="417830"/>
          </a:xfrm>
          <a:prstGeom prst="rect">
            <a:avLst/>
          </a:prstGeom>
          <a:noFill/>
        </p:spPr>
        <p:txBody>
          <a:bodyPr wrap="square" rtlCol="0">
            <a:spAutoFit/>
          </a:bodyPr>
          <a:p>
            <a:pPr indent="0">
              <a:buFont typeface="Arial" panose="020B0604020202020204" pitchFamily="34" charset="0"/>
              <a:buNone/>
            </a:pPr>
            <a:r>
              <a:rPr lang="zh-CN" altLang="en-US" sz="2000"/>
              <a:t>在开发中，用 Vue 和 React 开发大多数应用的速度都是足够快的。</a:t>
            </a:r>
            <a:endParaRPr lang="zh-CN" altLang="en-US" sz="2000"/>
          </a:p>
        </p:txBody>
      </p:sp>
      <p:sp>
        <p:nvSpPr>
          <p:cNvPr id="8" name="文本框 7"/>
          <p:cNvSpPr txBox="1"/>
          <p:nvPr/>
        </p:nvSpPr>
        <p:spPr>
          <a:xfrm>
            <a:off x="372745" y="1585595"/>
            <a:ext cx="8154035" cy="933450"/>
          </a:xfrm>
          <a:prstGeom prst="rect">
            <a:avLst/>
          </a:prstGeom>
          <a:noFill/>
        </p:spPr>
        <p:txBody>
          <a:bodyPr wrap="square" rtlCol="0">
            <a:spAutoFit/>
          </a:bodyPr>
          <a:p>
            <a:pPr indent="457200" fontAlgn="auto"/>
            <a:r>
              <a:rPr lang="zh-CN" altLang="en-US"/>
              <a:t>然而，假如你要开发一个对性能要求比较高的数据可视化或者动画的应用时，你需要了解到下面这点：在开发中，Vue 每秒最高处理 10 帧，而 React 每秒最高处理不到 1 帧。</a:t>
            </a:r>
            <a:endParaRPr lang="zh-CN" altLang="en-US"/>
          </a:p>
        </p:txBody>
      </p:sp>
      <p:sp>
        <p:nvSpPr>
          <p:cNvPr id="9" name="文本框 8"/>
          <p:cNvSpPr txBox="1"/>
          <p:nvPr/>
        </p:nvSpPr>
        <p:spPr>
          <a:xfrm>
            <a:off x="521335" y="2852420"/>
            <a:ext cx="7708265" cy="933450"/>
          </a:xfrm>
          <a:prstGeom prst="rect">
            <a:avLst/>
          </a:prstGeom>
          <a:noFill/>
        </p:spPr>
        <p:txBody>
          <a:bodyPr wrap="square" rtlCol="0">
            <a:spAutoFit/>
          </a:bodyPr>
          <a:p>
            <a:pPr indent="457200" fontAlgn="auto"/>
            <a:r>
              <a:rPr lang="zh-CN" altLang="en-US"/>
              <a:t>这是由于 React 有大量的检查机制，这会让它提供许多有用的警告和错误提示信息。我们同样认为这些是很重要的，但是我们在实现这些检查时，也更加密切地关注了性能方面。</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0.70"/>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70C0"/>
                </a:solidFill>
                <a:sym typeface="+mn-ea"/>
              </a:rPr>
              <a:t>HTML &amp; CSS</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472440" y="1049655"/>
            <a:ext cx="8138160" cy="722630"/>
          </a:xfrm>
          <a:prstGeom prst="rect">
            <a:avLst/>
          </a:prstGeom>
          <a:noFill/>
        </p:spPr>
        <p:txBody>
          <a:bodyPr wrap="square" rtlCol="0">
            <a:spAutoFit/>
          </a:bodyPr>
          <a:p>
            <a:pPr indent="0">
              <a:buFont typeface="Arial" panose="020B0604020202020204" pitchFamily="34" charset="0"/>
              <a:buNone/>
            </a:pPr>
            <a:r>
              <a:rPr lang="zh-CN" altLang="en-US" sz="2000"/>
              <a:t>在 React 中，所有的组件的渲染功能都依靠 JSX。JSX 是使用 XML 语法编写 JavaScript 的一种语法糖。</a:t>
            </a:r>
            <a:endParaRPr lang="zh-CN" altLang="en-US" sz="2000"/>
          </a:p>
        </p:txBody>
      </p:sp>
      <p:pic>
        <p:nvPicPr>
          <p:cNvPr id="5" name="图片 4"/>
          <p:cNvPicPr>
            <a:picLocks noChangeAspect="1"/>
          </p:cNvPicPr>
          <p:nvPr/>
        </p:nvPicPr>
        <p:blipFill>
          <a:blip r:embed="rId1"/>
          <a:stretch>
            <a:fillRect/>
          </a:stretch>
        </p:blipFill>
        <p:spPr>
          <a:xfrm>
            <a:off x="780415" y="552450"/>
            <a:ext cx="7582535" cy="4038600"/>
          </a:xfrm>
          <a:prstGeom prst="rect">
            <a:avLst/>
          </a:prstGeom>
        </p:spPr>
      </p:pic>
      <p:sp>
        <p:nvSpPr>
          <p:cNvPr id="6" name="文本框 5"/>
          <p:cNvSpPr txBox="1"/>
          <p:nvPr/>
        </p:nvSpPr>
        <p:spPr>
          <a:xfrm>
            <a:off x="727710" y="2085975"/>
            <a:ext cx="7689215" cy="1207770"/>
          </a:xfrm>
          <a:prstGeom prst="rect">
            <a:avLst/>
          </a:prstGeom>
          <a:noFill/>
        </p:spPr>
        <p:txBody>
          <a:bodyPr wrap="square" rtlCol="0">
            <a:spAutoFit/>
          </a:bodyPr>
          <a:p>
            <a:pPr indent="0">
              <a:buFont typeface="Arial" panose="020B0604020202020204" pitchFamily="34" charset="0"/>
              <a:buNone/>
            </a:pPr>
            <a:r>
              <a:rPr lang="zh-CN" altLang="en-US"/>
              <a:t>优势：</a:t>
            </a:r>
            <a:endParaRPr lang="zh-CN" altLang="en-US"/>
          </a:p>
          <a:p>
            <a:pPr marL="285750" indent="-285750">
              <a:buFont typeface="Arial" panose="020B0604020202020204" pitchFamily="34" charset="0"/>
              <a:buChar char="•"/>
            </a:pPr>
            <a:r>
              <a:rPr lang="zh-CN" altLang="en-US"/>
              <a:t>你可以使用完整的编程语言 JavaScript 功能来构建你的视图页面。</a:t>
            </a:r>
            <a:endParaRPr lang="zh-CN" altLang="en-US"/>
          </a:p>
          <a:p>
            <a:pPr marL="285750" indent="-285750">
              <a:buFont typeface="Arial" panose="020B0604020202020204" pitchFamily="34" charset="0"/>
              <a:buChar char="•"/>
            </a:pPr>
            <a:r>
              <a:rPr lang="zh-CN" altLang="en-US"/>
              <a:t>工具对 JSX 的支持相比于现有可用的其他 Vue 模板还是比较先进的（比如，linting、类型检查、编辑器的自动完成）。</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70C0"/>
                </a:solidFill>
                <a:sym typeface="+mn-ea"/>
              </a:rPr>
              <a:t>HTML &amp; CSS</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472440" y="1049655"/>
            <a:ext cx="8138160" cy="722630"/>
          </a:xfrm>
          <a:prstGeom prst="rect">
            <a:avLst/>
          </a:prstGeom>
          <a:noFill/>
        </p:spPr>
        <p:txBody>
          <a:bodyPr wrap="square" rtlCol="0">
            <a:spAutoFit/>
          </a:bodyPr>
          <a:p>
            <a:pPr indent="0">
              <a:buFont typeface="Arial" panose="020B0604020202020204" pitchFamily="34" charset="0"/>
              <a:buNone/>
            </a:pPr>
            <a:r>
              <a:rPr lang="zh-CN" altLang="en-US" sz="2000"/>
              <a:t>在 Vue 中，由于有时需要用这些功能，也提供了渲染功能 并且支持了 JSX。</a:t>
            </a:r>
            <a:endParaRPr lang="zh-CN" altLang="en-US" sz="2000"/>
          </a:p>
        </p:txBody>
      </p:sp>
      <p:sp>
        <p:nvSpPr>
          <p:cNvPr id="6" name="文本框 5"/>
          <p:cNvSpPr txBox="1"/>
          <p:nvPr/>
        </p:nvSpPr>
        <p:spPr>
          <a:xfrm>
            <a:off x="727710" y="2085975"/>
            <a:ext cx="7689215" cy="1756410"/>
          </a:xfrm>
          <a:prstGeom prst="rect">
            <a:avLst/>
          </a:prstGeom>
          <a:noFill/>
        </p:spPr>
        <p:txBody>
          <a:bodyPr wrap="square" rtlCol="0">
            <a:spAutoFit/>
          </a:bodyPr>
          <a:p>
            <a:pPr indent="0">
              <a:buFont typeface="Arial" panose="020B0604020202020204" pitchFamily="34" charset="0"/>
              <a:buNone/>
            </a:pPr>
            <a:r>
              <a:rPr lang="zh-CN" altLang="en-US"/>
              <a:t>优势：</a:t>
            </a:r>
            <a:endParaRPr lang="zh-CN" altLang="en-US"/>
          </a:p>
          <a:p>
            <a:pPr marL="285750" indent="-285750">
              <a:buFont typeface="Arial" panose="020B0604020202020204" pitchFamily="34" charset="0"/>
              <a:buChar char="•"/>
            </a:pPr>
            <a:r>
              <a:rPr lang="zh-CN" altLang="en-US"/>
              <a:t>    在写模板的过程中，样式风格已定并涉及更少的功能实现。</a:t>
            </a:r>
            <a:endParaRPr lang="zh-CN" altLang="en-US"/>
          </a:p>
          <a:p>
            <a:pPr marL="285750" indent="-285750">
              <a:buFont typeface="Arial" panose="020B0604020202020204" pitchFamily="34" charset="0"/>
              <a:buChar char="•"/>
            </a:pPr>
            <a:r>
              <a:rPr lang="zh-CN" altLang="en-US"/>
              <a:t>    模板总是会被声明的。</a:t>
            </a:r>
            <a:endParaRPr lang="zh-CN" altLang="en-US"/>
          </a:p>
          <a:p>
            <a:pPr marL="285750" indent="-285750">
              <a:buFont typeface="Arial" panose="020B0604020202020204" pitchFamily="34" charset="0"/>
              <a:buChar char="•"/>
            </a:pPr>
            <a:r>
              <a:rPr lang="zh-CN" altLang="en-US"/>
              <a:t>    模板中任何 HTML 语法都是有效的。</a:t>
            </a:r>
            <a:endParaRPr lang="zh-CN" altLang="en-US"/>
          </a:p>
          <a:p>
            <a:pPr marL="285750" indent="-285750">
              <a:buFont typeface="Arial" panose="020B0604020202020204" pitchFamily="34" charset="0"/>
              <a:buChar char="•"/>
            </a:pPr>
            <a:r>
              <a:rPr lang="zh-CN" altLang="en-US"/>
              <a:t>    阅读起来更贴合英语（比如，for each item in items）。</a:t>
            </a:r>
            <a:endParaRPr lang="zh-CN" altLang="en-US"/>
          </a:p>
          <a:p>
            <a:pPr marL="285750" indent="-285750">
              <a:buFont typeface="Arial" panose="020B0604020202020204" pitchFamily="34" charset="0"/>
              <a:buChar char="•"/>
            </a:pPr>
            <a:r>
              <a:rPr lang="zh-CN" altLang="en-US"/>
              <a:t>    不需要高级版本的 JavaScript 语法，来增加可读性。</a:t>
            </a:r>
            <a:endParaRPr lang="zh-CN" altLang="en-US"/>
          </a:p>
        </p:txBody>
      </p:sp>
      <p:pic>
        <p:nvPicPr>
          <p:cNvPr id="7" name="图片 6"/>
          <p:cNvPicPr>
            <a:picLocks noChangeAspect="1"/>
          </p:cNvPicPr>
          <p:nvPr/>
        </p:nvPicPr>
        <p:blipFill>
          <a:blip r:embed="rId1"/>
          <a:stretch>
            <a:fillRect/>
          </a:stretch>
        </p:blipFill>
        <p:spPr>
          <a:xfrm>
            <a:off x="777240" y="1476375"/>
            <a:ext cx="7588885" cy="2190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solidFill>
                  <a:srgbClr val="0070C0"/>
                </a:solidFill>
                <a:sym typeface="+mn-ea"/>
              </a:rPr>
              <a:t>其他</a:t>
            </a:r>
            <a:endParaRPr 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7" name="文本框 6"/>
          <p:cNvSpPr txBox="1"/>
          <p:nvPr/>
        </p:nvSpPr>
        <p:spPr>
          <a:xfrm>
            <a:off x="480695" y="1103630"/>
            <a:ext cx="8282305" cy="2724150"/>
          </a:xfrm>
          <a:prstGeom prst="rect">
            <a:avLst/>
          </a:prstGeom>
          <a:noFill/>
        </p:spPr>
        <p:txBody>
          <a:bodyPr wrap="square" rtlCol="0">
            <a:spAutoFit/>
          </a:bodyPr>
          <a:p>
            <a:pPr marL="285750" indent="-285750">
              <a:lnSpc>
                <a:spcPct val="160000"/>
              </a:lnSpc>
              <a:buFont typeface="Arial" panose="020B0604020202020204" pitchFamily="34" charset="0"/>
              <a:buChar char="•"/>
            </a:pPr>
            <a:r>
              <a:rPr lang="en-US" altLang="zh-CN"/>
              <a:t>vue</a:t>
            </a:r>
            <a:r>
              <a:rPr lang="zh-CN" altLang="en-US"/>
              <a:t>是官方维护，</a:t>
            </a:r>
            <a:r>
              <a:rPr lang="en-US" altLang="zh-CN"/>
              <a:t>React</a:t>
            </a:r>
            <a:r>
              <a:rPr lang="zh-CN" altLang="en-US"/>
              <a:t>由社区维护</a:t>
            </a:r>
            <a:endParaRPr lang="zh-CN" altLang="en-US"/>
          </a:p>
          <a:p>
            <a:pPr marL="285750" indent="-285750">
              <a:lnSpc>
                <a:spcPct val="160000"/>
              </a:lnSpc>
              <a:buFont typeface="Arial" panose="020B0604020202020204" pitchFamily="34" charset="0"/>
              <a:buChar char="•"/>
            </a:pPr>
            <a:r>
              <a:rPr lang="en-US" altLang="zh-CN"/>
              <a:t>React</a:t>
            </a:r>
            <a:r>
              <a:rPr lang="zh-CN" altLang="en-US"/>
              <a:t>生态系统比</a:t>
            </a:r>
            <a:r>
              <a:rPr lang="en-US" altLang="zh-CN"/>
              <a:t>vue</a:t>
            </a:r>
            <a:r>
              <a:rPr lang="zh-CN" altLang="en-US"/>
              <a:t>更加繁荣</a:t>
            </a:r>
            <a:endParaRPr lang="zh-CN" altLang="en-US"/>
          </a:p>
          <a:p>
            <a:pPr marL="285750" indent="-285750">
              <a:lnSpc>
                <a:spcPct val="160000"/>
              </a:lnSpc>
              <a:buFont typeface="Arial" panose="020B0604020202020204" pitchFamily="34" charset="0"/>
              <a:buChar char="•"/>
            </a:pPr>
            <a:r>
              <a:rPr lang="zh-CN" altLang="en-US"/>
              <a:t>ReactNative 能使你用相同的组件模型编写有本地渲染能力的 APP（iOS 和 Android）</a:t>
            </a:r>
            <a:endParaRPr lang="zh-CN" altLang="en-US"/>
          </a:p>
          <a:p>
            <a:pPr marL="285750" indent="-285750">
              <a:lnSpc>
                <a:spcPct val="160000"/>
              </a:lnSpc>
              <a:buFont typeface="Arial" panose="020B0604020202020204" pitchFamily="34" charset="0"/>
              <a:buChar char="•"/>
            </a:pPr>
            <a:r>
              <a:rPr lang="zh-CN" altLang="en-US"/>
              <a:t>Vue 和 Weex 会进行官方合作，Weex 是阿里的跨平台用户界面开发框架</a:t>
            </a:r>
            <a:endParaRPr lang="zh-CN" altLang="en-US"/>
          </a:p>
          <a:p>
            <a:pPr marL="285750" indent="-285750">
              <a:lnSpc>
                <a:spcPct val="160000"/>
              </a:lnSpc>
              <a:buFont typeface="Arial" panose="020B0604020202020204" pitchFamily="34" charset="0"/>
              <a:buChar char="•"/>
            </a:pPr>
            <a:r>
              <a:rPr lang="zh-CN" altLang="en-US"/>
              <a:t>Weex 还在积极发展，成熟度也不能和 ReactNative 相抗衡。</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1</a:t>
            </a:r>
            <a:endParaRPr lang="zh-CN" altLang="en-US">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488950" y="1045845"/>
            <a:ext cx="8197850" cy="659130"/>
          </a:xfrm>
          <a:prstGeom prst="rect">
            <a:avLst/>
          </a:prstGeom>
          <a:noFill/>
        </p:spPr>
        <p:txBody>
          <a:bodyPr wrap="square" rtlCol="0">
            <a:spAutoFit/>
          </a:bodyPr>
          <a:p>
            <a:pPr indent="457200" fontAlgn="auto"/>
            <a:r>
              <a:rPr lang="zh-CN" altLang="en-US"/>
              <a:t>Vue 的一些语法和 Angular 的很相似（例如 v-if vs ng-if）。因为 Angular 是 Vue 早期开发的灵感来源。然而，Angular 中存在的许多问题，在 Vue 中已经得到解决。</a:t>
            </a:r>
            <a:endParaRPr lang="zh-CN" altLang="en-US"/>
          </a:p>
        </p:txBody>
      </p:sp>
      <p:sp>
        <p:nvSpPr>
          <p:cNvPr id="5" name="文本框 4"/>
          <p:cNvSpPr txBox="1"/>
          <p:nvPr/>
        </p:nvSpPr>
        <p:spPr>
          <a:xfrm>
            <a:off x="546100" y="2126615"/>
            <a:ext cx="7988300" cy="2392680"/>
          </a:xfrm>
          <a:prstGeom prst="rect">
            <a:avLst/>
          </a:prstGeom>
          <a:noFill/>
        </p:spPr>
        <p:txBody>
          <a:bodyPr wrap="square" rtlCol="0">
            <a:spAutoFit/>
          </a:bodyPr>
          <a:p>
            <a:pPr indent="0">
              <a:lnSpc>
                <a:spcPct val="140000"/>
              </a:lnSpc>
              <a:buFont typeface="Arial" panose="020B0604020202020204" pitchFamily="34" charset="0"/>
              <a:buNone/>
            </a:pPr>
            <a:r>
              <a:rPr lang="zh-CN" altLang="en-US"/>
              <a:t>我们从以下几个角度进行对比：</a:t>
            </a:r>
            <a:endParaRPr lang="zh-CN" altLang="en-US"/>
          </a:p>
          <a:p>
            <a:pPr marL="285750" indent="-285750">
              <a:lnSpc>
                <a:spcPct val="140000"/>
              </a:lnSpc>
              <a:buFont typeface="Arial" panose="020B0604020202020204" pitchFamily="34" charset="0"/>
              <a:buChar char="•"/>
            </a:pPr>
            <a:r>
              <a:rPr lang="zh-CN" altLang="en-US"/>
              <a:t>    复杂性</a:t>
            </a:r>
            <a:endParaRPr lang="zh-CN" altLang="en-US"/>
          </a:p>
          <a:p>
            <a:pPr marL="285750" indent="-285750">
              <a:lnSpc>
                <a:spcPct val="140000"/>
              </a:lnSpc>
              <a:buFont typeface="Arial" panose="020B0604020202020204" pitchFamily="34" charset="0"/>
              <a:buChar char="•"/>
            </a:pPr>
            <a:r>
              <a:rPr lang="zh-CN" altLang="en-US"/>
              <a:t>    灵活性和模块化</a:t>
            </a:r>
            <a:endParaRPr lang="zh-CN" altLang="en-US"/>
          </a:p>
          <a:p>
            <a:pPr marL="285750" indent="-285750">
              <a:lnSpc>
                <a:spcPct val="140000"/>
              </a:lnSpc>
              <a:buFont typeface="Arial" panose="020B0604020202020204" pitchFamily="34" charset="0"/>
              <a:buChar char="•"/>
            </a:pPr>
            <a:r>
              <a:rPr lang="zh-CN" altLang="en-US"/>
              <a:t>    数据绑定</a:t>
            </a:r>
            <a:endParaRPr lang="zh-CN" altLang="en-US"/>
          </a:p>
          <a:p>
            <a:pPr marL="285750" indent="-285750">
              <a:lnSpc>
                <a:spcPct val="140000"/>
              </a:lnSpc>
              <a:buFont typeface="Arial" panose="020B0604020202020204" pitchFamily="34" charset="0"/>
              <a:buChar char="•"/>
            </a:pPr>
            <a:r>
              <a:rPr lang="zh-CN" altLang="en-US"/>
              <a:t>    指令与组件</a:t>
            </a:r>
            <a:endParaRPr lang="zh-CN" altLang="en-US"/>
          </a:p>
          <a:p>
            <a:pPr marL="285750" indent="-285750">
              <a:lnSpc>
                <a:spcPct val="140000"/>
              </a:lnSpc>
              <a:buFont typeface="Arial" panose="020B0604020202020204" pitchFamily="34" charset="0"/>
              <a:buChar char="•"/>
            </a:pPr>
            <a:r>
              <a:rPr lang="zh-CN" altLang="en-US"/>
              <a:t>    性能</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1</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1482090"/>
          </a:xfrm>
          <a:prstGeom prst="rect">
            <a:avLst/>
          </a:prstGeom>
          <a:noFill/>
        </p:spPr>
        <p:txBody>
          <a:bodyPr wrap="square" rtlCol="0">
            <a:spAutoFit/>
          </a:bodyPr>
          <a:p>
            <a:r>
              <a:rPr lang="zh-CN" altLang="en-US"/>
              <a:t>复杂性</a:t>
            </a:r>
            <a:endParaRPr lang="zh-CN" altLang="en-US"/>
          </a:p>
          <a:p>
            <a:endParaRPr lang="zh-CN" altLang="en-US"/>
          </a:p>
          <a:p>
            <a:r>
              <a:rPr lang="zh-CN" altLang="en-US"/>
              <a:t>在 API 与设计两方面上 Vue.js 都比 Angular 1 简单得多，因此你可以快速地掌握它的全部特性并投入开发。</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1</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2305050"/>
          </a:xfrm>
          <a:prstGeom prst="rect">
            <a:avLst/>
          </a:prstGeom>
          <a:noFill/>
        </p:spPr>
        <p:txBody>
          <a:bodyPr wrap="square" rtlCol="0">
            <a:spAutoFit/>
          </a:bodyPr>
          <a:p>
            <a:r>
              <a:rPr lang="zh-CN" altLang="en-US"/>
              <a:t>灵活性和模块化</a:t>
            </a:r>
            <a:endParaRPr lang="zh-CN" altLang="en-US"/>
          </a:p>
          <a:p>
            <a:endParaRPr lang="zh-CN" altLang="en-US"/>
          </a:p>
          <a:p>
            <a:r>
              <a:rPr lang="zh-CN" altLang="en-US"/>
              <a:t>Vue.js 是一个更加灵活开放的解决方案。它允许你以希望的方式组织应用程序，而不是在任何时候都必须遵循 Angular 1 制定的规则，这让 Vue 能适用于各种项目。我们知道把决定权交给你是非常必要的。</a:t>
            </a:r>
            <a:endParaRPr lang="zh-CN" altLang="en-US"/>
          </a:p>
          <a:p>
            <a:r>
              <a:rPr lang="zh-CN" altLang="en-US"/>
              <a:t>这也就是为什么我们提供 Webpack template，让你可以用几分钟，去选择是否启用高级特性，比如热模块加载、linting、CSS 提取等等。</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1</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1207770"/>
          </a:xfrm>
          <a:prstGeom prst="rect">
            <a:avLst/>
          </a:prstGeom>
          <a:noFill/>
        </p:spPr>
        <p:txBody>
          <a:bodyPr wrap="square" rtlCol="0">
            <a:spAutoFit/>
          </a:bodyPr>
          <a:p>
            <a:r>
              <a:rPr lang="zh-CN" altLang="en-US"/>
              <a:t>数据绑定</a:t>
            </a:r>
            <a:endParaRPr lang="zh-CN" altLang="en-US"/>
          </a:p>
          <a:p>
            <a:endParaRPr lang="zh-CN" altLang="en-US"/>
          </a:p>
          <a:p>
            <a:r>
              <a:rPr lang="zh-CN" altLang="en-US"/>
              <a:t>Angular 1 使用双向绑定，Vue 在不同组件间强制使用单向数据流。这使应用中的数据流更加清晰易懂。</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1</a:t>
            </a:r>
            <a:endParaRPr>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1482090"/>
          </a:xfrm>
          <a:prstGeom prst="rect">
            <a:avLst/>
          </a:prstGeom>
          <a:noFill/>
        </p:spPr>
        <p:txBody>
          <a:bodyPr wrap="square" rtlCol="0">
            <a:spAutoFit/>
          </a:bodyPr>
          <a:p>
            <a:r>
              <a:rPr lang="zh-CN" altLang="en-US"/>
              <a:t>指令与组件</a:t>
            </a:r>
            <a:endParaRPr lang="zh-CN" altLang="en-US"/>
          </a:p>
          <a:p>
            <a:endParaRPr lang="zh-CN" altLang="en-US"/>
          </a:p>
          <a:p>
            <a:r>
              <a:rPr lang="zh-CN" altLang="en-US"/>
              <a:t>在 Vue 中指令和组件分得更清晰。指令只封装 DOM 操作，而组件代表一个自给自足的独立单元 —— 有自己的视图和数据逻辑。在 Angular 中两者有不少相混的地方。</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a:t>
            </a:r>
            <a:r>
              <a:rPr lang="en-US" altLang="zh-CN">
                <a:solidFill>
                  <a:srgbClr val="0070C0"/>
                </a:solidFill>
                <a:sym typeface="+mn-ea"/>
              </a:rPr>
              <a:t>2</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659130"/>
          </a:xfrm>
          <a:prstGeom prst="rect">
            <a:avLst/>
          </a:prstGeom>
          <a:noFill/>
        </p:spPr>
        <p:txBody>
          <a:bodyPr wrap="square" rtlCol="0">
            <a:spAutoFit/>
          </a:bodyPr>
          <a:p>
            <a:pPr indent="457200" fontAlgn="auto"/>
            <a:r>
              <a:rPr lang="zh-CN" altLang="en-US"/>
              <a:t>我们单独将 Angular 2 作分类，因为它完全是一个全新的框架。例如：它具有优秀的组件系统，并且许多实现已经完全重写，API 也完全改变了。</a:t>
            </a:r>
            <a:endParaRPr lang="zh-CN" altLang="en-US"/>
          </a:p>
        </p:txBody>
      </p:sp>
      <p:sp>
        <p:nvSpPr>
          <p:cNvPr id="6" name="文本框 5"/>
          <p:cNvSpPr txBox="1"/>
          <p:nvPr/>
        </p:nvSpPr>
        <p:spPr>
          <a:xfrm>
            <a:off x="546100" y="2126615"/>
            <a:ext cx="7988300" cy="2009140"/>
          </a:xfrm>
          <a:prstGeom prst="rect">
            <a:avLst/>
          </a:prstGeom>
          <a:noFill/>
        </p:spPr>
        <p:txBody>
          <a:bodyPr wrap="square" rtlCol="0">
            <a:spAutoFit/>
          </a:bodyPr>
          <a:p>
            <a:pPr indent="0">
              <a:lnSpc>
                <a:spcPct val="140000"/>
              </a:lnSpc>
              <a:buFont typeface="Arial" panose="020B0604020202020204" pitchFamily="34" charset="0"/>
              <a:buNone/>
            </a:pPr>
            <a:r>
              <a:rPr lang="zh-CN" altLang="en-US"/>
              <a:t>我们从以下几个角度进行对比：</a:t>
            </a:r>
            <a:endParaRPr lang="zh-CN" altLang="en-US"/>
          </a:p>
          <a:p>
            <a:pPr marL="285750" indent="-285750">
              <a:lnSpc>
                <a:spcPct val="140000"/>
              </a:lnSpc>
              <a:buFont typeface="Arial" panose="020B0604020202020204" pitchFamily="34" charset="0"/>
              <a:buChar char="•"/>
            </a:pPr>
            <a:r>
              <a:rPr lang="zh-CN" altLang="en-US"/>
              <a:t>    TypeScript</a:t>
            </a:r>
            <a:endParaRPr lang="zh-CN" altLang="en-US"/>
          </a:p>
          <a:p>
            <a:pPr marL="285750" indent="-285750">
              <a:lnSpc>
                <a:spcPct val="140000"/>
              </a:lnSpc>
              <a:buFont typeface="Arial" panose="020B0604020202020204" pitchFamily="34" charset="0"/>
              <a:buChar char="•"/>
            </a:pPr>
            <a:r>
              <a:rPr lang="zh-CN" altLang="en-US"/>
              <a:t>    大小和性能</a:t>
            </a:r>
            <a:endParaRPr lang="zh-CN" altLang="en-US"/>
          </a:p>
          <a:p>
            <a:pPr marL="285750" indent="-285750">
              <a:lnSpc>
                <a:spcPct val="140000"/>
              </a:lnSpc>
              <a:buFont typeface="Arial" panose="020B0604020202020204" pitchFamily="34" charset="0"/>
              <a:buChar char="•"/>
            </a:pPr>
            <a:r>
              <a:rPr lang="zh-CN" altLang="en-US"/>
              <a:t>    灵活性</a:t>
            </a:r>
            <a:endParaRPr lang="zh-CN" altLang="en-US"/>
          </a:p>
          <a:p>
            <a:pPr marL="285750" indent="-285750">
              <a:lnSpc>
                <a:spcPct val="140000"/>
              </a:lnSpc>
              <a:buFont typeface="Arial" panose="020B0604020202020204" pitchFamily="34" charset="0"/>
              <a:buChar char="•"/>
            </a:pPr>
            <a:r>
              <a:rPr lang="zh-CN" altLang="en-US"/>
              <a:t>    学习曲线</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a:t>
            </a:r>
            <a:r>
              <a:rPr lang="en-US" altLang="zh-CN">
                <a:solidFill>
                  <a:srgbClr val="0070C0"/>
                </a:solidFill>
                <a:sym typeface="+mn-ea"/>
              </a:rPr>
              <a:t>2</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2288540"/>
          </a:xfrm>
          <a:prstGeom prst="rect">
            <a:avLst/>
          </a:prstGeom>
          <a:noFill/>
        </p:spPr>
        <p:txBody>
          <a:bodyPr wrap="square" rtlCol="0">
            <a:spAutoFit/>
          </a:bodyPr>
          <a:p>
            <a:r>
              <a:rPr lang="zh-CN" altLang="en-US"/>
              <a:t>TypeScript</a:t>
            </a:r>
            <a:endParaRPr lang="zh-CN" altLang="en-US"/>
          </a:p>
          <a:p>
            <a:endParaRPr lang="zh-CN" altLang="en-US"/>
          </a:p>
          <a:p>
            <a:pPr indent="457200" fontAlgn="auto"/>
            <a:r>
              <a:rPr lang="zh-CN" altLang="en-US"/>
              <a:t>Angular 1 面向的是较小的应用程序，Angular 2 已转移焦点，面向的是大型企业应用。在这一点上 TypeScript 经常会被引用，它对那些喜欢用 Java 或者 C# 等类型安全的语言的人是非常有用的。</a:t>
            </a:r>
            <a:endParaRPr lang="zh-CN" altLang="en-US"/>
          </a:p>
          <a:p>
            <a:endParaRPr lang="zh-CN" altLang="en-US"/>
          </a:p>
          <a:p>
            <a:pPr indent="457200" fontAlgn="auto"/>
            <a:r>
              <a:rPr lang="zh-CN" altLang="en-US"/>
              <a:t>Vue 也十分适合制作企业应用，你也可以通过使用官方类型或官方装饰器来支持 TypeScript，这完全可由你的方案来定。</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a:t>
            </a:r>
            <a:r>
              <a:rPr lang="en-US" altLang="zh-CN">
                <a:solidFill>
                  <a:srgbClr val="0070C0"/>
                </a:solidFill>
                <a:sym typeface="+mn-ea"/>
              </a:rPr>
              <a:t>2</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3128010"/>
          </a:xfrm>
          <a:prstGeom prst="rect">
            <a:avLst/>
          </a:prstGeom>
          <a:noFill/>
        </p:spPr>
        <p:txBody>
          <a:bodyPr wrap="square" rtlCol="0">
            <a:spAutoFit/>
          </a:bodyPr>
          <a:p>
            <a:r>
              <a:rPr lang="zh-CN" altLang="en-US"/>
              <a:t>大小和性能</a:t>
            </a:r>
            <a:endParaRPr lang="zh-CN" altLang="en-US"/>
          </a:p>
          <a:p>
            <a:endParaRPr lang="zh-CN" altLang="en-US"/>
          </a:p>
          <a:p>
            <a:pPr indent="457200" fontAlgn="auto"/>
            <a:r>
              <a:rPr lang="zh-CN" altLang="en-US"/>
              <a:t>在性能方面，这两个框架都非常的快。但目前尚没有足够的数据用例来具体展示。如果你一定要量化这些数据，你可以查看第三方参照，它表明 Vue 2 相比 Angular2 是更快的。</a:t>
            </a:r>
            <a:endParaRPr lang="zh-CN" altLang="en-US"/>
          </a:p>
          <a:p>
            <a:endParaRPr lang="zh-CN" altLang="en-US"/>
          </a:p>
          <a:p>
            <a:pPr indent="457200" fontAlgn="auto"/>
            <a:r>
              <a:rPr lang="zh-CN" altLang="en-US"/>
              <a:t>在大小方面，虽然 Angular 2 使用 tree-shaking 和离线编译技术使代码体积减小了许多。但包含编译器和全部功能的 Vue2(23kb) 相比 Angular 2(50kb) 还是要小的多。但是要注意，用 Angular 2 的 App 的体积缩减是使用了 tree-shaking 移除了那些框架中没有用到的功能，但随着功能引入的不断增多，尺寸会变得越来越大。</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a:t>
            </a:r>
            <a:r>
              <a:rPr lang="en-US" altLang="zh-CN">
                <a:solidFill>
                  <a:srgbClr val="0070C0"/>
                </a:solidFill>
                <a:sym typeface="+mn-ea"/>
              </a:rPr>
              <a:t>2</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1756410"/>
          </a:xfrm>
          <a:prstGeom prst="rect">
            <a:avLst/>
          </a:prstGeom>
          <a:noFill/>
        </p:spPr>
        <p:txBody>
          <a:bodyPr wrap="square" rtlCol="0">
            <a:spAutoFit/>
          </a:bodyPr>
          <a:p>
            <a:r>
              <a:rPr lang="zh-CN" altLang="en-US"/>
              <a:t>灵活性</a:t>
            </a:r>
            <a:endParaRPr lang="zh-CN" altLang="en-US"/>
          </a:p>
          <a:p>
            <a:endParaRPr lang="zh-CN" altLang="en-US"/>
          </a:p>
          <a:p>
            <a:pPr indent="457200" fontAlgn="auto"/>
            <a:r>
              <a:rPr lang="zh-CN" altLang="en-US"/>
              <a:t>Vue 相比于 Angular 2 则更加灵活，Vue 官方提供了构建工具来协助你构建项目，但它并不限制你去如何构建。有人可能喜欢用统一的方式来构建，也有很多开发者喜欢这种灵活自由的方式。</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en-US">
                <a:solidFill>
                  <a:srgbClr val="0070C0"/>
                </a:solidFill>
                <a:sym typeface="+mn-ea"/>
              </a:rPr>
              <a:t>vue</a:t>
            </a:r>
            <a:r>
              <a:rPr lang="zh-CN" altLang="en-US">
                <a:solidFill>
                  <a:srgbClr val="0070C0"/>
                </a:solidFill>
                <a:sym typeface="+mn-ea"/>
              </a:rPr>
              <a:t>与Angular </a:t>
            </a:r>
            <a:r>
              <a:rPr lang="en-US" altLang="zh-CN">
                <a:solidFill>
                  <a:srgbClr val="0070C0"/>
                </a:solidFill>
                <a:sym typeface="+mn-ea"/>
              </a:rPr>
              <a:t>2</a:t>
            </a:r>
            <a:endParaRPr lang="en-US" alt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2579370"/>
          </a:xfrm>
          <a:prstGeom prst="rect">
            <a:avLst/>
          </a:prstGeom>
          <a:noFill/>
        </p:spPr>
        <p:txBody>
          <a:bodyPr wrap="square" rtlCol="0">
            <a:spAutoFit/>
          </a:bodyPr>
          <a:p>
            <a:r>
              <a:rPr lang="zh-CN" altLang="en-US"/>
              <a:t>学习曲线</a:t>
            </a:r>
            <a:endParaRPr lang="zh-CN" altLang="en-US"/>
          </a:p>
          <a:p>
            <a:endParaRPr lang="zh-CN" altLang="en-US"/>
          </a:p>
          <a:p>
            <a:r>
              <a:rPr lang="zh-CN" altLang="en-US"/>
              <a:t>开始使用 Vue，你使用的是熟悉的 HTML、符合 ES5 规则的 JavaScript（也就是纯 JavaScript）。有了这些基本的技能，你可以快速地掌握它(指南)并投入开发 。</a:t>
            </a:r>
            <a:endParaRPr lang="zh-CN" altLang="en-US"/>
          </a:p>
          <a:p>
            <a:endParaRPr lang="zh-CN" altLang="en-US"/>
          </a:p>
          <a:p>
            <a:r>
              <a:rPr lang="zh-CN" altLang="en-US"/>
              <a:t>Angular 2 的学习曲线是非常陡峭的。即使不包括 TypeScript，它的开始指南中所用的就有 ES2015 标准的 JavaScript，18个 NPM 依赖包，4 个文件和超过 3 千多字的介绍，这一切都是为了完成个 Hello World。而Vue’s Hello World就非常简单。甚至我们并不用花费一整个页面去介绍它。</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r>
              <a:rPr lang="zh-CN">
                <a:solidFill>
                  <a:srgbClr val="0070C0"/>
                </a:solidFill>
                <a:sym typeface="+mn-ea"/>
              </a:rPr>
              <a:t>题外话</a:t>
            </a:r>
            <a:endParaRPr lang="zh-CN">
              <a:solidFill>
                <a:srgbClr val="0070C0"/>
              </a:solidFill>
              <a:sym typeface="+mn-ea"/>
            </a:endParaRPr>
          </a:p>
        </p:txBody>
      </p:sp>
      <p:sp>
        <p:nvSpPr>
          <p:cNvPr id="3" name="页脚占位符 2"/>
          <p:cNvSpPr>
            <a:spLocks noGrp="1"/>
          </p:cNvSpPr>
          <p:nvPr>
            <p:ph type="ftr" sz="quarter" idx="11"/>
          </p:nvPr>
        </p:nvSpPr>
        <p:spPr/>
        <p:txBody>
          <a:bodyPr/>
          <a:p>
            <a:r>
              <a:rPr lang="en-US" dirty="0" smtClean="0"/>
              <a:t> </a:t>
            </a:r>
            <a:endParaRPr lang="en-US" dirty="0"/>
          </a:p>
        </p:txBody>
      </p:sp>
      <p:sp>
        <p:nvSpPr>
          <p:cNvPr id="5" name="文本框 4"/>
          <p:cNvSpPr txBox="1"/>
          <p:nvPr/>
        </p:nvSpPr>
        <p:spPr>
          <a:xfrm>
            <a:off x="396240" y="1043940"/>
            <a:ext cx="8366760" cy="2773680"/>
          </a:xfrm>
          <a:prstGeom prst="rect">
            <a:avLst/>
          </a:prstGeom>
          <a:noFill/>
        </p:spPr>
        <p:txBody>
          <a:bodyPr wrap="square" rtlCol="0">
            <a:spAutoFit/>
          </a:bodyPr>
          <a:p>
            <a:pPr marL="742950" lvl="1" indent="-285750">
              <a:lnSpc>
                <a:spcPct val="220000"/>
              </a:lnSpc>
              <a:buFont typeface="Arial" panose="020B0604020202020204" pitchFamily="34" charset="0"/>
              <a:buChar char="•"/>
            </a:pPr>
            <a:r>
              <a:rPr lang="zh-CN" altLang="en-US" sz="2000"/>
              <a:t> 对于前端框架的理解</a:t>
            </a:r>
            <a:endParaRPr lang="zh-CN" altLang="en-US" sz="2000"/>
          </a:p>
          <a:p>
            <a:pPr marL="742950" lvl="1" indent="-285750">
              <a:lnSpc>
                <a:spcPct val="220000"/>
              </a:lnSpc>
              <a:buFont typeface="Arial" panose="020B0604020202020204" pitchFamily="34" charset="0"/>
              <a:buChar char="•"/>
            </a:pPr>
            <a:r>
              <a:rPr lang="en-US" altLang="zh-CN" sz="2000"/>
              <a:t>前端框架与前端类库的区别</a:t>
            </a:r>
            <a:endParaRPr lang="en-US" altLang="zh-CN" sz="2000"/>
          </a:p>
          <a:p>
            <a:pPr marL="742950" lvl="1" indent="-285750">
              <a:lnSpc>
                <a:spcPct val="220000"/>
              </a:lnSpc>
              <a:buFont typeface="Arial" panose="020B0604020202020204" pitchFamily="34" charset="0"/>
              <a:buChar char="•"/>
            </a:pPr>
            <a:r>
              <a:rPr lang="en-US" altLang="zh-CN" sz="2000"/>
              <a:t>前端MVC框架思想</a:t>
            </a:r>
            <a:endParaRPr lang="en-US" altLang="zh-CN" sz="2000"/>
          </a:p>
          <a:p>
            <a:pPr marL="742950" lvl="1" indent="-285750">
              <a:lnSpc>
                <a:spcPct val="220000"/>
              </a:lnSpc>
              <a:buFont typeface="Arial" panose="020B0604020202020204" pitchFamily="34" charset="0"/>
              <a:buChar char="•"/>
            </a:pPr>
            <a:r>
              <a:rPr lang="zh-CN" altLang="en-US" sz="2000"/>
              <a:t>前端与后台的关系</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solidFill>
                  <a:srgbClr val="0070C0"/>
                </a:solidFill>
                <a:sym typeface="+mn-ea"/>
              </a:rPr>
              <a:t>送给大家的一点心得</a:t>
            </a:r>
            <a:endParaRPr lang="zh-CN" altLang="en-US"/>
          </a:p>
        </p:txBody>
      </p:sp>
      <p:sp>
        <p:nvSpPr>
          <p:cNvPr id="3" name="页脚占位符 2"/>
          <p:cNvSpPr>
            <a:spLocks noGrp="1"/>
          </p:cNvSpPr>
          <p:nvPr>
            <p:ph type="ftr" sz="quarter" idx="11"/>
          </p:nvPr>
        </p:nvSpPr>
        <p:spPr/>
        <p:txBody>
          <a:bodyPr/>
          <a:p>
            <a:r>
              <a:rPr lang="en-US" dirty="0" smtClean="0"/>
              <a:t> </a:t>
            </a:r>
            <a:endParaRPr lang="en-US" dirty="0"/>
          </a:p>
        </p:txBody>
      </p:sp>
      <p:sp>
        <p:nvSpPr>
          <p:cNvPr id="4" name="文本框 3"/>
          <p:cNvSpPr txBox="1"/>
          <p:nvPr/>
        </p:nvSpPr>
        <p:spPr>
          <a:xfrm>
            <a:off x="578485" y="1236980"/>
            <a:ext cx="8032115" cy="3380740"/>
          </a:xfrm>
          <a:prstGeom prst="rect">
            <a:avLst/>
          </a:prstGeom>
          <a:noFill/>
        </p:spPr>
        <p:txBody>
          <a:bodyPr wrap="square" rtlCol="0">
            <a:spAutoFit/>
          </a:bodyPr>
          <a:p>
            <a:pPr marL="285750" indent="-285750">
              <a:lnSpc>
                <a:spcPct val="180000"/>
              </a:lnSpc>
              <a:buFont typeface="Arial" panose="020B0604020202020204" pitchFamily="34" charset="0"/>
              <a:buChar char="•"/>
            </a:pPr>
            <a:r>
              <a:rPr lang="zh-CN" altLang="en-US" sz="2400"/>
              <a:t>任何时候，学习都是必要的</a:t>
            </a:r>
            <a:endParaRPr lang="zh-CN" altLang="en-US" sz="2400"/>
          </a:p>
          <a:p>
            <a:pPr marL="285750" indent="-285750">
              <a:lnSpc>
                <a:spcPct val="180000"/>
              </a:lnSpc>
              <a:buFont typeface="Arial" panose="020B0604020202020204" pitchFamily="34" charset="0"/>
              <a:buChar char="•"/>
            </a:pPr>
            <a:r>
              <a:rPr lang="zh-CN" altLang="en-US" sz="2400"/>
              <a:t>基础才是王道</a:t>
            </a:r>
            <a:endParaRPr lang="zh-CN" altLang="en-US" sz="2400"/>
          </a:p>
          <a:p>
            <a:pPr marL="285750" indent="-285750">
              <a:lnSpc>
                <a:spcPct val="180000"/>
              </a:lnSpc>
              <a:buFont typeface="Arial" panose="020B0604020202020204" pitchFamily="34" charset="0"/>
              <a:buChar char="•"/>
            </a:pPr>
            <a:r>
              <a:rPr lang="zh-CN" altLang="en-US" sz="2400"/>
              <a:t>思想最重要</a:t>
            </a:r>
            <a:endParaRPr lang="zh-CN" altLang="en-US" sz="2400"/>
          </a:p>
          <a:p>
            <a:pPr marL="285750" indent="-285750">
              <a:lnSpc>
                <a:spcPct val="180000"/>
              </a:lnSpc>
              <a:buFont typeface="Arial" panose="020B0604020202020204" pitchFamily="34" charset="0"/>
              <a:buChar char="•"/>
            </a:pPr>
            <a:r>
              <a:rPr lang="zh-CN" altLang="en-US" sz="2400"/>
              <a:t>端正自己的心态</a:t>
            </a:r>
            <a:endParaRPr lang="zh-CN" altLang="en-US" sz="2400"/>
          </a:p>
          <a:p>
            <a:pPr marL="285750" indent="-285750">
              <a:lnSpc>
                <a:spcPct val="180000"/>
              </a:lnSpc>
              <a:buFont typeface="Arial" panose="020B0604020202020204" pitchFamily="34" charset="0"/>
              <a:buChar char="•"/>
            </a:pP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椭圆 15"/>
          <p:cNvSpPr/>
          <p:nvPr/>
        </p:nvSpPr>
        <p:spPr>
          <a:xfrm>
            <a:off x="-684584" y="3363838"/>
            <a:ext cx="2448272" cy="2448272"/>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17" name="椭圆 16"/>
          <p:cNvSpPr/>
          <p:nvPr/>
        </p:nvSpPr>
        <p:spPr>
          <a:xfrm>
            <a:off x="2195736" y="4299942"/>
            <a:ext cx="1584176" cy="1584176"/>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20" name="椭圆 19"/>
          <p:cNvSpPr/>
          <p:nvPr/>
        </p:nvSpPr>
        <p:spPr>
          <a:xfrm>
            <a:off x="1982565" y="3723878"/>
            <a:ext cx="438268" cy="438268"/>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23" name="椭圆 22"/>
          <p:cNvSpPr/>
          <p:nvPr/>
        </p:nvSpPr>
        <p:spPr>
          <a:xfrm>
            <a:off x="7812360" y="3219822"/>
            <a:ext cx="2376264" cy="2376264"/>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3" name="椭圆 42"/>
          <p:cNvSpPr/>
          <p:nvPr/>
        </p:nvSpPr>
        <p:spPr>
          <a:xfrm>
            <a:off x="3561704" y="3721694"/>
            <a:ext cx="2387800" cy="2387800"/>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4" name="椭圆 43"/>
          <p:cNvSpPr/>
          <p:nvPr/>
        </p:nvSpPr>
        <p:spPr>
          <a:xfrm>
            <a:off x="7452320" y="3435846"/>
            <a:ext cx="936104" cy="936104"/>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45" name="椭圆 44"/>
          <p:cNvSpPr/>
          <p:nvPr/>
        </p:nvSpPr>
        <p:spPr>
          <a:xfrm>
            <a:off x="6156176" y="4422627"/>
            <a:ext cx="1605507" cy="1605507"/>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cs typeface="+mn-ea"/>
              <a:sym typeface="+mn-lt"/>
            </a:endParaRPr>
          </a:p>
        </p:txBody>
      </p:sp>
      <p:sp>
        <p:nvSpPr>
          <p:cNvPr id="31" name="文本框 30"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txBox="1"/>
          <p:nvPr/>
        </p:nvSpPr>
        <p:spPr>
          <a:xfrm>
            <a:off x="2989193" y="923549"/>
            <a:ext cx="3165615" cy="1779905"/>
          </a:xfrm>
          <a:prstGeom prst="rect">
            <a:avLst/>
          </a:prstGeom>
          <a:noFill/>
        </p:spPr>
        <p:txBody>
          <a:bodyPr wrap="square" rtlCol="0">
            <a:spAutoFit/>
          </a:bodyPr>
          <a:lstStyle/>
          <a:p>
            <a:pPr algn="dist"/>
            <a:r>
              <a:rPr lang="zh-CN" sz="10350" b="1" dirty="0">
                <a:solidFill>
                  <a:schemeClr val="tx1">
                    <a:lumMod val="65000"/>
                    <a:lumOff val="35000"/>
                  </a:schemeClr>
                </a:solidFill>
                <a:cs typeface="+mn-ea"/>
                <a:sym typeface="+mn-lt"/>
              </a:rPr>
              <a:t>谢谢</a:t>
            </a:r>
            <a:endParaRPr lang="zh-CN" sz="10350" b="1" dirty="0">
              <a:solidFill>
                <a:schemeClr val="tx1">
                  <a:lumMod val="65000"/>
                  <a:lumOff val="35000"/>
                </a:schemeClr>
              </a:solidFill>
              <a:cs typeface="+mn-ea"/>
              <a:sym typeface="+mn-lt"/>
            </a:endParaRPr>
          </a:p>
        </p:txBody>
      </p:sp>
      <p:sp>
        <p:nvSpPr>
          <p:cNvPr id="32" name="矩形 31"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1592746" y="3375115"/>
            <a:ext cx="5958509" cy="262890"/>
          </a:xfrm>
          <a:prstGeom prst="rect">
            <a:avLst/>
          </a:prstGeom>
        </p:spPr>
        <p:txBody>
          <a:bodyPr wrap="square">
            <a:spAutoFit/>
          </a:bodyPr>
          <a:lstStyle/>
          <a:p>
            <a:pPr algn="ctr"/>
            <a:r>
              <a:rPr lang="zh-CN" altLang="en-US" sz="1050" b="1" dirty="0">
                <a:solidFill>
                  <a:schemeClr val="tx1">
                    <a:lumMod val="65000"/>
                    <a:lumOff val="35000"/>
                  </a:schemeClr>
                </a:solidFill>
                <a:cs typeface="+mn-ea"/>
                <a:sym typeface="+mn-lt"/>
              </a:rPr>
              <a:t>讲师</a:t>
            </a:r>
            <a:r>
              <a:rPr lang="zh-CN" altLang="en-US" sz="1050" b="1" dirty="0" smtClean="0">
                <a:solidFill>
                  <a:schemeClr val="tx1">
                    <a:lumMod val="65000"/>
                    <a:lumOff val="35000"/>
                  </a:schemeClr>
                </a:solidFill>
                <a:cs typeface="+mn-ea"/>
                <a:sym typeface="+mn-lt"/>
              </a:rPr>
              <a:t>：</a:t>
            </a:r>
            <a:r>
              <a:rPr lang="zh-CN" altLang="en-US" sz="1050" b="1" dirty="0" smtClean="0">
                <a:solidFill>
                  <a:schemeClr val="accent1"/>
                </a:solidFill>
                <a:cs typeface="+mn-ea"/>
                <a:sym typeface="+mn-lt"/>
              </a:rPr>
              <a:t>张永涛</a:t>
            </a:r>
            <a:endParaRPr lang="zh-CN" altLang="en-US" sz="1050" b="1" dirty="0">
              <a:solidFill>
                <a:schemeClr val="accent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0">
        <p14:doors dir="vert"/>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 calcmode="lin" valueType="num">
                                      <p:cBhvr>
                                        <p:cTn id="7" dur="300" fill="hold"/>
                                        <p:tgtEl>
                                          <p:spTgt spid="16"/>
                                        </p:tgtEl>
                                        <p:attrNameLst>
                                          <p:attrName>ppt_w</p:attrName>
                                        </p:attrNameLst>
                                      </p:cBhvr>
                                      <p:tavLst>
                                        <p:tav tm="0">
                                          <p:val>
                                            <p:fltVal val="0"/>
                                          </p:val>
                                        </p:tav>
                                        <p:tav tm="100000">
                                          <p:val>
                                            <p:strVal val="#ppt_w"/>
                                          </p:val>
                                        </p:tav>
                                      </p:tavLst>
                                    </p:anim>
                                    <p:anim calcmode="lin" valueType="num">
                                      <p:cBhvr>
                                        <p:cTn id="8" dur="300" fill="hold"/>
                                        <p:tgtEl>
                                          <p:spTgt spid="16"/>
                                        </p:tgtEl>
                                        <p:attrNameLst>
                                          <p:attrName>ppt_h</p:attrName>
                                        </p:attrNameLst>
                                      </p:cBhvr>
                                      <p:tavLst>
                                        <p:tav tm="0">
                                          <p:val>
                                            <p:fltVal val="0"/>
                                          </p:val>
                                        </p:tav>
                                        <p:tav tm="100000">
                                          <p:val>
                                            <p:strVal val="#ppt_h"/>
                                          </p:val>
                                        </p:tav>
                                      </p:tavLst>
                                    </p:anim>
                                    <p:animEffect transition="in" filter="fade">
                                      <p:cBhvr>
                                        <p:cTn id="9" dur="300"/>
                                        <p:tgtEl>
                                          <p:spTgt spid="16"/>
                                        </p:tgtEl>
                                      </p:cBhvr>
                                    </p:animEffect>
                                  </p:childTnLst>
                                </p:cTn>
                              </p:par>
                              <p:par>
                                <p:cTn id="10" presetID="6" presetClass="emph" presetSubtype="0" autoRev="1" fill="hold" grpId="1" nodeType="withEffect">
                                  <p:stCondLst>
                                    <p:cond delay="400"/>
                                  </p:stCondLst>
                                  <p:childTnLst>
                                    <p:animScale>
                                      <p:cBhvr>
                                        <p:cTn id="11" dur="150" fill="hold"/>
                                        <p:tgtEl>
                                          <p:spTgt spid="16"/>
                                        </p:tgtEl>
                                      </p:cBhvr>
                                      <p:by x="110000" y="110000"/>
                                    </p:animScale>
                                  </p:childTnLst>
                                </p:cTn>
                              </p:par>
                              <p:par>
                                <p:cTn id="12" presetID="53" presetClass="entr" presetSubtype="16" fill="hold" grpId="0" nodeType="withEffect">
                                  <p:stCondLst>
                                    <p:cond delay="600"/>
                                  </p:stCondLst>
                                  <p:childTnLst>
                                    <p:set>
                                      <p:cBhvr>
                                        <p:cTn id="13" dur="1" fill="hold">
                                          <p:stCondLst>
                                            <p:cond delay="0"/>
                                          </p:stCondLst>
                                        </p:cTn>
                                        <p:tgtEl>
                                          <p:spTgt spid="17"/>
                                        </p:tgtEl>
                                        <p:attrNameLst>
                                          <p:attrName>style.visibility</p:attrName>
                                        </p:attrNameLst>
                                      </p:cBhvr>
                                      <p:to>
                                        <p:strVal val="visible"/>
                                      </p:to>
                                    </p:set>
                                    <p:anim calcmode="lin" valueType="num">
                                      <p:cBhvr>
                                        <p:cTn id="14" dur="300" fill="hold"/>
                                        <p:tgtEl>
                                          <p:spTgt spid="17"/>
                                        </p:tgtEl>
                                        <p:attrNameLst>
                                          <p:attrName>ppt_w</p:attrName>
                                        </p:attrNameLst>
                                      </p:cBhvr>
                                      <p:tavLst>
                                        <p:tav tm="0">
                                          <p:val>
                                            <p:fltVal val="0"/>
                                          </p:val>
                                        </p:tav>
                                        <p:tav tm="100000">
                                          <p:val>
                                            <p:strVal val="#ppt_w"/>
                                          </p:val>
                                        </p:tav>
                                      </p:tavLst>
                                    </p:anim>
                                    <p:anim calcmode="lin" valueType="num">
                                      <p:cBhvr>
                                        <p:cTn id="15" dur="300" fill="hold"/>
                                        <p:tgtEl>
                                          <p:spTgt spid="17"/>
                                        </p:tgtEl>
                                        <p:attrNameLst>
                                          <p:attrName>ppt_h</p:attrName>
                                        </p:attrNameLst>
                                      </p:cBhvr>
                                      <p:tavLst>
                                        <p:tav tm="0">
                                          <p:val>
                                            <p:fltVal val="0"/>
                                          </p:val>
                                        </p:tav>
                                        <p:tav tm="100000">
                                          <p:val>
                                            <p:strVal val="#ppt_h"/>
                                          </p:val>
                                        </p:tav>
                                      </p:tavLst>
                                    </p:anim>
                                    <p:animEffect transition="in" filter="fade">
                                      <p:cBhvr>
                                        <p:cTn id="16" dur="300"/>
                                        <p:tgtEl>
                                          <p:spTgt spid="17"/>
                                        </p:tgtEl>
                                      </p:cBhvr>
                                    </p:animEffect>
                                  </p:childTnLst>
                                </p:cTn>
                              </p:par>
                              <p:par>
                                <p:cTn id="17" presetID="6" presetClass="emph" presetSubtype="0" autoRev="1" fill="hold" grpId="1" nodeType="withEffect">
                                  <p:stCondLst>
                                    <p:cond delay="900"/>
                                  </p:stCondLst>
                                  <p:childTnLst>
                                    <p:animScale>
                                      <p:cBhvr>
                                        <p:cTn id="18" dur="150" fill="hold"/>
                                        <p:tgtEl>
                                          <p:spTgt spid="17"/>
                                        </p:tgtEl>
                                      </p:cBhvr>
                                      <p:by x="110000" y="110000"/>
                                    </p:animScale>
                                  </p:childTnLst>
                                </p:cTn>
                              </p:par>
                              <p:par>
                                <p:cTn id="19" presetID="53" presetClass="entr" presetSubtype="16" fill="hold" grpId="0" nodeType="withEffect">
                                  <p:stCondLst>
                                    <p:cond delay="1100"/>
                                  </p:stCondLst>
                                  <p:childTnLst>
                                    <p:set>
                                      <p:cBhvr>
                                        <p:cTn id="20" dur="1" fill="hold">
                                          <p:stCondLst>
                                            <p:cond delay="0"/>
                                          </p:stCondLst>
                                        </p:cTn>
                                        <p:tgtEl>
                                          <p:spTgt spid="20"/>
                                        </p:tgtEl>
                                        <p:attrNameLst>
                                          <p:attrName>style.visibility</p:attrName>
                                        </p:attrNameLst>
                                      </p:cBhvr>
                                      <p:to>
                                        <p:strVal val="visible"/>
                                      </p:to>
                                    </p:set>
                                    <p:anim calcmode="lin" valueType="num">
                                      <p:cBhvr>
                                        <p:cTn id="21" dur="300" fill="hold"/>
                                        <p:tgtEl>
                                          <p:spTgt spid="20"/>
                                        </p:tgtEl>
                                        <p:attrNameLst>
                                          <p:attrName>ppt_w</p:attrName>
                                        </p:attrNameLst>
                                      </p:cBhvr>
                                      <p:tavLst>
                                        <p:tav tm="0">
                                          <p:val>
                                            <p:fltVal val="0"/>
                                          </p:val>
                                        </p:tav>
                                        <p:tav tm="100000">
                                          <p:val>
                                            <p:strVal val="#ppt_w"/>
                                          </p:val>
                                        </p:tav>
                                      </p:tavLst>
                                    </p:anim>
                                    <p:anim calcmode="lin" valueType="num">
                                      <p:cBhvr>
                                        <p:cTn id="22" dur="300" fill="hold"/>
                                        <p:tgtEl>
                                          <p:spTgt spid="20"/>
                                        </p:tgtEl>
                                        <p:attrNameLst>
                                          <p:attrName>ppt_h</p:attrName>
                                        </p:attrNameLst>
                                      </p:cBhvr>
                                      <p:tavLst>
                                        <p:tav tm="0">
                                          <p:val>
                                            <p:fltVal val="0"/>
                                          </p:val>
                                        </p:tav>
                                        <p:tav tm="100000">
                                          <p:val>
                                            <p:strVal val="#ppt_h"/>
                                          </p:val>
                                        </p:tav>
                                      </p:tavLst>
                                    </p:anim>
                                    <p:animEffect transition="in" filter="fade">
                                      <p:cBhvr>
                                        <p:cTn id="23" dur="300"/>
                                        <p:tgtEl>
                                          <p:spTgt spid="20"/>
                                        </p:tgtEl>
                                      </p:cBhvr>
                                    </p:animEffect>
                                  </p:childTnLst>
                                </p:cTn>
                              </p:par>
                              <p:par>
                                <p:cTn id="24" presetID="6" presetClass="emph" presetSubtype="0" autoRev="1" fill="hold" grpId="1" nodeType="withEffect">
                                  <p:stCondLst>
                                    <p:cond delay="1400"/>
                                  </p:stCondLst>
                                  <p:childTnLst>
                                    <p:animScale>
                                      <p:cBhvr>
                                        <p:cTn id="25" dur="150" fill="hold"/>
                                        <p:tgtEl>
                                          <p:spTgt spid="20"/>
                                        </p:tgtEl>
                                      </p:cBhvr>
                                      <p:by x="110000" y="110000"/>
                                    </p:animScale>
                                  </p:childTnLst>
                                </p:cTn>
                              </p:par>
                              <p:par>
                                <p:cTn id="26" presetID="53" presetClass="entr" presetSubtype="16" fill="hold" grpId="0" nodeType="withEffect">
                                  <p:stCondLst>
                                    <p:cond delay="1600"/>
                                  </p:stCondLst>
                                  <p:childTnLst>
                                    <p:set>
                                      <p:cBhvr>
                                        <p:cTn id="27" dur="1" fill="hold">
                                          <p:stCondLst>
                                            <p:cond delay="0"/>
                                          </p:stCondLst>
                                        </p:cTn>
                                        <p:tgtEl>
                                          <p:spTgt spid="23"/>
                                        </p:tgtEl>
                                        <p:attrNameLst>
                                          <p:attrName>style.visibility</p:attrName>
                                        </p:attrNameLst>
                                      </p:cBhvr>
                                      <p:to>
                                        <p:strVal val="visible"/>
                                      </p:to>
                                    </p:set>
                                    <p:anim calcmode="lin" valueType="num">
                                      <p:cBhvr>
                                        <p:cTn id="28" dur="300" fill="hold"/>
                                        <p:tgtEl>
                                          <p:spTgt spid="23"/>
                                        </p:tgtEl>
                                        <p:attrNameLst>
                                          <p:attrName>ppt_w</p:attrName>
                                        </p:attrNameLst>
                                      </p:cBhvr>
                                      <p:tavLst>
                                        <p:tav tm="0">
                                          <p:val>
                                            <p:fltVal val="0"/>
                                          </p:val>
                                        </p:tav>
                                        <p:tav tm="100000">
                                          <p:val>
                                            <p:strVal val="#ppt_w"/>
                                          </p:val>
                                        </p:tav>
                                      </p:tavLst>
                                    </p:anim>
                                    <p:anim calcmode="lin" valueType="num">
                                      <p:cBhvr>
                                        <p:cTn id="29" dur="300" fill="hold"/>
                                        <p:tgtEl>
                                          <p:spTgt spid="23"/>
                                        </p:tgtEl>
                                        <p:attrNameLst>
                                          <p:attrName>ppt_h</p:attrName>
                                        </p:attrNameLst>
                                      </p:cBhvr>
                                      <p:tavLst>
                                        <p:tav tm="0">
                                          <p:val>
                                            <p:fltVal val="0"/>
                                          </p:val>
                                        </p:tav>
                                        <p:tav tm="100000">
                                          <p:val>
                                            <p:strVal val="#ppt_h"/>
                                          </p:val>
                                        </p:tav>
                                      </p:tavLst>
                                    </p:anim>
                                    <p:animEffect transition="in" filter="fade">
                                      <p:cBhvr>
                                        <p:cTn id="30" dur="300"/>
                                        <p:tgtEl>
                                          <p:spTgt spid="23"/>
                                        </p:tgtEl>
                                      </p:cBhvr>
                                    </p:animEffect>
                                  </p:childTnLst>
                                </p:cTn>
                              </p:par>
                              <p:par>
                                <p:cTn id="31" presetID="6" presetClass="emph" presetSubtype="0" autoRev="1" fill="hold" grpId="1" nodeType="withEffect">
                                  <p:stCondLst>
                                    <p:cond delay="1900"/>
                                  </p:stCondLst>
                                  <p:childTnLst>
                                    <p:animScale>
                                      <p:cBhvr>
                                        <p:cTn id="32" dur="150" fill="hold"/>
                                        <p:tgtEl>
                                          <p:spTgt spid="23"/>
                                        </p:tgtEl>
                                      </p:cBhvr>
                                      <p:by x="110000" y="110000"/>
                                    </p:animScale>
                                  </p:childTnLst>
                                </p:cTn>
                              </p:par>
                              <p:par>
                                <p:cTn id="33" presetID="53" presetClass="entr" presetSubtype="16" fill="hold" grpId="0" nodeType="withEffect">
                                  <p:stCondLst>
                                    <p:cond delay="11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300" fill="hold"/>
                                        <p:tgtEl>
                                          <p:spTgt spid="43"/>
                                        </p:tgtEl>
                                        <p:attrNameLst>
                                          <p:attrName>ppt_w</p:attrName>
                                        </p:attrNameLst>
                                      </p:cBhvr>
                                      <p:tavLst>
                                        <p:tav tm="0">
                                          <p:val>
                                            <p:fltVal val="0"/>
                                          </p:val>
                                        </p:tav>
                                        <p:tav tm="100000">
                                          <p:val>
                                            <p:strVal val="#ppt_w"/>
                                          </p:val>
                                        </p:tav>
                                      </p:tavLst>
                                    </p:anim>
                                    <p:anim calcmode="lin" valueType="num">
                                      <p:cBhvr>
                                        <p:cTn id="36" dur="300" fill="hold"/>
                                        <p:tgtEl>
                                          <p:spTgt spid="43"/>
                                        </p:tgtEl>
                                        <p:attrNameLst>
                                          <p:attrName>ppt_h</p:attrName>
                                        </p:attrNameLst>
                                      </p:cBhvr>
                                      <p:tavLst>
                                        <p:tav tm="0">
                                          <p:val>
                                            <p:fltVal val="0"/>
                                          </p:val>
                                        </p:tav>
                                        <p:tav tm="100000">
                                          <p:val>
                                            <p:strVal val="#ppt_h"/>
                                          </p:val>
                                        </p:tav>
                                      </p:tavLst>
                                    </p:anim>
                                    <p:animEffect transition="in" filter="fade">
                                      <p:cBhvr>
                                        <p:cTn id="37" dur="300"/>
                                        <p:tgtEl>
                                          <p:spTgt spid="43"/>
                                        </p:tgtEl>
                                      </p:cBhvr>
                                    </p:animEffect>
                                  </p:childTnLst>
                                </p:cTn>
                              </p:par>
                              <p:par>
                                <p:cTn id="38" presetID="6" presetClass="emph" presetSubtype="0" autoRev="1" fill="hold" grpId="1" nodeType="withEffect">
                                  <p:stCondLst>
                                    <p:cond delay="1400"/>
                                  </p:stCondLst>
                                  <p:childTnLst>
                                    <p:animScale>
                                      <p:cBhvr>
                                        <p:cTn id="39" dur="150" fill="hold"/>
                                        <p:tgtEl>
                                          <p:spTgt spid="43"/>
                                        </p:tgtEl>
                                      </p:cBhvr>
                                      <p:by x="110000" y="110000"/>
                                    </p:animScale>
                                  </p:childTnLst>
                                </p:cTn>
                              </p:par>
                              <p:par>
                                <p:cTn id="40" presetID="53" presetClass="entr" presetSubtype="16" fill="hold" grpId="0" nodeType="withEffect">
                                  <p:stCondLst>
                                    <p:cond delay="600"/>
                                  </p:stCondLst>
                                  <p:childTnLst>
                                    <p:set>
                                      <p:cBhvr>
                                        <p:cTn id="41" dur="1" fill="hold">
                                          <p:stCondLst>
                                            <p:cond delay="0"/>
                                          </p:stCondLst>
                                        </p:cTn>
                                        <p:tgtEl>
                                          <p:spTgt spid="44"/>
                                        </p:tgtEl>
                                        <p:attrNameLst>
                                          <p:attrName>style.visibility</p:attrName>
                                        </p:attrNameLst>
                                      </p:cBhvr>
                                      <p:to>
                                        <p:strVal val="visible"/>
                                      </p:to>
                                    </p:set>
                                    <p:anim calcmode="lin" valueType="num">
                                      <p:cBhvr>
                                        <p:cTn id="42" dur="300" fill="hold"/>
                                        <p:tgtEl>
                                          <p:spTgt spid="44"/>
                                        </p:tgtEl>
                                        <p:attrNameLst>
                                          <p:attrName>ppt_w</p:attrName>
                                        </p:attrNameLst>
                                      </p:cBhvr>
                                      <p:tavLst>
                                        <p:tav tm="0">
                                          <p:val>
                                            <p:fltVal val="0"/>
                                          </p:val>
                                        </p:tav>
                                        <p:tav tm="100000">
                                          <p:val>
                                            <p:strVal val="#ppt_w"/>
                                          </p:val>
                                        </p:tav>
                                      </p:tavLst>
                                    </p:anim>
                                    <p:anim calcmode="lin" valueType="num">
                                      <p:cBhvr>
                                        <p:cTn id="43" dur="300" fill="hold"/>
                                        <p:tgtEl>
                                          <p:spTgt spid="44"/>
                                        </p:tgtEl>
                                        <p:attrNameLst>
                                          <p:attrName>ppt_h</p:attrName>
                                        </p:attrNameLst>
                                      </p:cBhvr>
                                      <p:tavLst>
                                        <p:tav tm="0">
                                          <p:val>
                                            <p:fltVal val="0"/>
                                          </p:val>
                                        </p:tav>
                                        <p:tav tm="100000">
                                          <p:val>
                                            <p:strVal val="#ppt_h"/>
                                          </p:val>
                                        </p:tav>
                                      </p:tavLst>
                                    </p:anim>
                                    <p:animEffect transition="in" filter="fade">
                                      <p:cBhvr>
                                        <p:cTn id="44" dur="300"/>
                                        <p:tgtEl>
                                          <p:spTgt spid="44"/>
                                        </p:tgtEl>
                                      </p:cBhvr>
                                    </p:animEffect>
                                  </p:childTnLst>
                                </p:cTn>
                              </p:par>
                              <p:par>
                                <p:cTn id="45" presetID="6" presetClass="emph" presetSubtype="0" autoRev="1" fill="hold" grpId="1" nodeType="withEffect">
                                  <p:stCondLst>
                                    <p:cond delay="900"/>
                                  </p:stCondLst>
                                  <p:childTnLst>
                                    <p:animScale>
                                      <p:cBhvr>
                                        <p:cTn id="46" dur="150" fill="hold"/>
                                        <p:tgtEl>
                                          <p:spTgt spid="44"/>
                                        </p:tgtEl>
                                      </p:cBhvr>
                                      <p:by x="110000" y="110000"/>
                                    </p:animScale>
                                  </p:childTnLst>
                                </p:cTn>
                              </p:par>
                              <p:par>
                                <p:cTn id="47" presetID="53" presetClass="entr" presetSubtype="16" fill="hold" grpId="0" nodeType="withEffect">
                                  <p:stCondLst>
                                    <p:cond delay="100"/>
                                  </p:stCondLst>
                                  <p:childTnLst>
                                    <p:set>
                                      <p:cBhvr>
                                        <p:cTn id="48" dur="1" fill="hold">
                                          <p:stCondLst>
                                            <p:cond delay="0"/>
                                          </p:stCondLst>
                                        </p:cTn>
                                        <p:tgtEl>
                                          <p:spTgt spid="45"/>
                                        </p:tgtEl>
                                        <p:attrNameLst>
                                          <p:attrName>style.visibility</p:attrName>
                                        </p:attrNameLst>
                                      </p:cBhvr>
                                      <p:to>
                                        <p:strVal val="visible"/>
                                      </p:to>
                                    </p:set>
                                    <p:anim calcmode="lin" valueType="num">
                                      <p:cBhvr>
                                        <p:cTn id="49" dur="300" fill="hold"/>
                                        <p:tgtEl>
                                          <p:spTgt spid="45"/>
                                        </p:tgtEl>
                                        <p:attrNameLst>
                                          <p:attrName>ppt_w</p:attrName>
                                        </p:attrNameLst>
                                      </p:cBhvr>
                                      <p:tavLst>
                                        <p:tav tm="0">
                                          <p:val>
                                            <p:fltVal val="0"/>
                                          </p:val>
                                        </p:tav>
                                        <p:tav tm="100000">
                                          <p:val>
                                            <p:strVal val="#ppt_w"/>
                                          </p:val>
                                        </p:tav>
                                      </p:tavLst>
                                    </p:anim>
                                    <p:anim calcmode="lin" valueType="num">
                                      <p:cBhvr>
                                        <p:cTn id="50" dur="300" fill="hold"/>
                                        <p:tgtEl>
                                          <p:spTgt spid="45"/>
                                        </p:tgtEl>
                                        <p:attrNameLst>
                                          <p:attrName>ppt_h</p:attrName>
                                        </p:attrNameLst>
                                      </p:cBhvr>
                                      <p:tavLst>
                                        <p:tav tm="0">
                                          <p:val>
                                            <p:fltVal val="0"/>
                                          </p:val>
                                        </p:tav>
                                        <p:tav tm="100000">
                                          <p:val>
                                            <p:strVal val="#ppt_h"/>
                                          </p:val>
                                        </p:tav>
                                      </p:tavLst>
                                    </p:anim>
                                    <p:animEffect transition="in" filter="fade">
                                      <p:cBhvr>
                                        <p:cTn id="51" dur="300"/>
                                        <p:tgtEl>
                                          <p:spTgt spid="45"/>
                                        </p:tgtEl>
                                      </p:cBhvr>
                                    </p:animEffect>
                                  </p:childTnLst>
                                </p:cTn>
                              </p:par>
                              <p:par>
                                <p:cTn id="52" presetID="6" presetClass="emph" presetSubtype="0" autoRev="1" fill="hold" grpId="1" nodeType="withEffect">
                                  <p:stCondLst>
                                    <p:cond delay="400"/>
                                  </p:stCondLst>
                                  <p:childTnLst>
                                    <p:animScale>
                                      <p:cBhvr>
                                        <p:cTn id="53" dur="150" fill="hold"/>
                                        <p:tgtEl>
                                          <p:spTgt spid="4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20" grpId="0" animBg="1"/>
      <p:bldP spid="20" grpId="1" animBg="1"/>
      <p:bldP spid="23" grpId="0" animBg="1"/>
      <p:bldP spid="23" grpId="1" animBg="1"/>
      <p:bldP spid="43" grpId="0" animBg="1"/>
      <p:bldP spid="43" grpId="1" animBg="1"/>
      <p:bldP spid="44" grpId="0" animBg="1"/>
      <p:bldP spid="44" grpId="1" animBg="1"/>
      <p:bldP spid="45" grpId="0" animBg="1"/>
      <p:bldP spid="45" grpId="1" animBg="1"/>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p">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3816</Words>
  <Application>WPS 演示</Application>
  <PresentationFormat>全屏显示(16:9)</PresentationFormat>
  <Paragraphs>254</Paragraphs>
  <Slides>25</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Arial</vt:lpstr>
      <vt:lpstr>宋体</vt:lpstr>
      <vt:lpstr>Wingdings</vt:lpstr>
      <vt:lpstr>Bebas Neue</vt:lpstr>
      <vt:lpstr>Calibri</vt:lpstr>
      <vt:lpstr>微软雅黑</vt:lpstr>
      <vt:lpstr>Segoe Print</vt:lpstr>
      <vt:lpstr>第一PPT，www.1ppt.com</vt:lpstr>
      <vt:lpstr>PowerPoint 演示文稿</vt:lpstr>
      <vt:lpstr>Vue与其他框架的对比</vt:lpstr>
      <vt:lpstr>vue与React</vt:lpstr>
      <vt:lpstr>PowerPoint 演示文稿</vt:lpstr>
      <vt:lpstr>性能简介</vt:lpstr>
      <vt:lpstr>渲染性能</vt:lpstr>
      <vt:lpstr>渲染性能</vt:lpstr>
      <vt:lpstr>更新性能</vt:lpstr>
      <vt:lpstr>开发中</vt:lpstr>
      <vt:lpstr>HTML &amp; CSS</vt:lpstr>
      <vt:lpstr>HTML &amp; CSS</vt:lpstr>
      <vt:lpstr>处理用户输入</vt:lpstr>
      <vt:lpstr>处理用户输入</vt:lpstr>
      <vt:lpstr>组件化应用构建</vt:lpstr>
      <vt:lpstr>vue与Angular 1</vt:lpstr>
      <vt:lpstr>vue与Angular 1</vt:lpstr>
      <vt:lpstr>vue与Angular 1</vt:lpstr>
      <vt:lpstr>组件化应用构建</vt:lpstr>
      <vt:lpstr>vue与Angular 1</vt:lpstr>
      <vt:lpstr>vue与Angular 2</vt:lpstr>
      <vt:lpstr>vue与Angular 2</vt:lpstr>
      <vt:lpstr>vue与Angular 2</vt:lpstr>
      <vt:lpstr>组件化应用构建</vt:lpstr>
      <vt:lpstr>PowerPoint 演示文稿</vt:lpstr>
      <vt:lpstr>PowerPoint 演示文稿</vt:lpstr>
    </vt:vector>
  </TitlesOfParts>
  <Company>LIME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lastModifiedBy>张永涛</cp:lastModifiedBy>
  <cp:revision>261</cp:revision>
  <dcterms:created xsi:type="dcterms:W3CDTF">2011-12-26T17:46:00Z</dcterms:created>
  <dcterms:modified xsi:type="dcterms:W3CDTF">2017-05-10T14:01:58Z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2052-10.1.0.6391</vt:lpwstr>
  </property>
</Properties>
</file>