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339" r:id="rId3"/>
    <p:sldId id="326" r:id="rId5"/>
    <p:sldId id="355" r:id="rId6"/>
    <p:sldId id="356" r:id="rId7"/>
    <p:sldId id="379" r:id="rId8"/>
    <p:sldId id="394" r:id="rId9"/>
    <p:sldId id="380" r:id="rId10"/>
    <p:sldId id="393" r:id="rId11"/>
    <p:sldId id="395" r:id="rId12"/>
    <p:sldId id="396" r:id="rId13"/>
    <p:sldId id="357" r:id="rId14"/>
    <p:sldId id="397" r:id="rId15"/>
    <p:sldId id="398" r:id="rId16"/>
    <p:sldId id="481" r:id="rId17"/>
    <p:sldId id="482" r:id="rId18"/>
    <p:sldId id="399" r:id="rId19"/>
    <p:sldId id="340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457DA5"/>
    <a:srgbClr val="F2644C"/>
    <a:srgbClr val="0065B0"/>
    <a:srgbClr val="FF0505"/>
    <a:srgbClr val="EA0000"/>
    <a:srgbClr val="444444"/>
    <a:srgbClr val="0FCED3"/>
    <a:srgbClr val="D60093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3" autoAdjust="0"/>
    <p:restoredTop sz="99548" autoAdjust="0"/>
  </p:normalViewPr>
  <p:slideViewPr>
    <p:cSldViewPr>
      <p:cViewPr varScale="1">
        <p:scale>
          <a:sx n="134" d="100"/>
          <a:sy n="134" d="100"/>
        </p:scale>
        <p:origin x="-78" y="-594"/>
      </p:cViewPr>
      <p:guideLst>
        <p:guide orient="horz" pos="16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40" y="-90"/>
      </p:cViewPr>
      <p:guideLst>
        <p:guide orient="horz" pos="2991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ABB2A-1528-4AAF-9A21-F4370666C7B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8927C-AB49-450F-8967-4AD52E2DC3D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90015-6979-4CAF-87BC-D33F74A1F26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CA0D8-6577-48B2-BA77-88519BAFBFD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AF454-C1DB-447C-9EEC-A5F3AC4DF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Vue.js（读音 /vjuː/，类似于 view） 是一套构建用户界面的渐进式框架。与其他重量级框架不同的是，Vue 采用自底向上增量开发的设计。Vue 的核心库只关注视图层，它不仅易于上手，还便于与第三方库或既有项目整合。另一方面，当与单文件组件和 Vue 生态系统支持的库结合使用时，Vue 也完全能够为复杂的单页应用程序提供驱动。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Vue.js（读音 /vjuː/，类似于 view） 是一套构建用户界面的渐进式框架。与其他重量级框架不同的是，Vue 采用自底向上增量开发的设计。Vue 的核心库只关注视图层，它不仅易于上手，还便于与第三方库或既有项目整合。另一方面，当与单文件组件和 Vue 生态系统支持的库结合使用时，Vue 也完全能够为复杂的单页应用程序提供驱动。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响应式布局是Ethan Marcotte在2010年5月份提出的一个概念，简而言之，就是一个网站能够兼容多个终端——而不是为每个终端做一个特定的版本。这个概念是为解决移动互联网浏览而诞生的。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这里我们遇到点新东西。你看到的 v-bind 属性被称为指令。指令带有前缀 v-，以表示它们是 Vue 提供的特殊属性。可能你已经猜到了，它们会在渲染的 DOM 上应用特殊的响应式行为。简言之，这里该指令的作用是：“将这个元素节点的 title 属性和 Vue 实例的 message 属性保持一致”。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仔细想想，几乎任意类型的应用界面都可以抽象为一个组件树：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仔细想想，几乎任意类型的应用界面都可以抽象为一个组件树：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这只是一个假设的例子，但是我们已经设法将应用分割成了两个更小的单元，子单元通过 props 接口实现了与父单元很好的解耦。我们现在可以进一步为我们的 todo-item 组件实现更复杂的模板和逻辑的改进，而不会影响到父单元。</a:t>
            </a:r>
            <a:endParaRPr lang="zh-CN" altLang="en-US"/>
          </a:p>
          <a:p>
            <a:r>
              <a:rPr lang="zh-CN" altLang="en-US"/>
              <a:t>在一个大型应用中，有必要将整个应用程序划分为组件，以使开发可管理。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document.registerElement() 函数用来创建自定义的HTML元素。将返回一个构造函数，其中有一个参数选项，用来声明自定义HTML元素的名称，另外有一个可选参数项，用来描述原型的对象，自定义功能的元素。</a:t>
            </a:r>
            <a:endParaRPr lang="zh-CN" altLang="en-US"/>
          </a:p>
          <a:p>
            <a:r>
              <a:rPr lang="zh-CN" altLang="en-US"/>
              <a:t>　　在下面的示例中，简单的创建了一个新的HTML元素 &lt;x-treehouse&gt; ，并且将它放入到页面中：</a:t>
            </a:r>
            <a:endParaRPr lang="zh-CN" altLang="en-US"/>
          </a:p>
          <a:p>
            <a:r>
              <a:rPr lang="zh-CN" altLang="en-US"/>
              <a:t>　　var XTreehouseElement = document.registerElement('x-treehouse');</a:t>
            </a:r>
            <a:endParaRPr lang="zh-CN" altLang="en-US"/>
          </a:p>
          <a:p>
            <a:r>
              <a:rPr lang="zh-CN" altLang="en-US"/>
              <a:t>　　document.body.appendChild(new XTreehouseElement());</a:t>
            </a:r>
            <a:endParaRPr lang="zh-CN" altLang="en-US"/>
          </a:p>
          <a:p>
            <a:r>
              <a:rPr lang="zh-CN" altLang="en-US"/>
              <a:t>　　下面的HTML就会插入 &lt;body&gt; 元素内：</a:t>
            </a:r>
            <a:endParaRPr lang="zh-CN" altLang="en-US"/>
          </a:p>
          <a:p>
            <a:r>
              <a:rPr lang="zh-CN" altLang="en-US"/>
              <a:t>　　&lt;x-treehouse&gt;&lt;/x-treehouse&gt;</a:t>
            </a:r>
            <a:endParaRPr lang="zh-CN" altLang="en-US"/>
          </a:p>
          <a:p>
            <a:r>
              <a:rPr lang="zh-CN" altLang="en-US"/>
              <a:t>　　自定义元素的名称 必须使用连字符 - ，这样浏览器就可以区分标准元素和自定义元素。这也意味着，不会遇到一个新的HTML元素和定义元素使用相同名称的问题。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AF454-C1DB-447C-9EEC-A5F3AC4DF9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781550"/>
            <a:ext cx="6629400" cy="29289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85750"/>
            <a:ext cx="457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5134D-7C6B-4A7B-B28B-A8C75F87044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4781550"/>
            <a:ext cx="6629400" cy="29289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4781550"/>
            <a:ext cx="6629400" cy="29289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US" smtClean="0"/>
            </a:fld>
            <a:endParaRPr lang="en-US" dirty="0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3"/>
          </p:nvPr>
        </p:nvSpPr>
        <p:spPr>
          <a:xfrm>
            <a:off x="533400" y="1200150"/>
            <a:ext cx="1828800" cy="15186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32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2590800" y="1200150"/>
            <a:ext cx="1828800" cy="15186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en-US"/>
          </a:p>
        </p:txBody>
      </p:sp>
      <p:sp>
        <p:nvSpPr>
          <p:cNvPr id="34" name="Picture Placeholder 29"/>
          <p:cNvSpPr>
            <a:spLocks noGrp="1"/>
          </p:cNvSpPr>
          <p:nvPr>
            <p:ph type="pic" sz="quarter" idx="15"/>
          </p:nvPr>
        </p:nvSpPr>
        <p:spPr>
          <a:xfrm>
            <a:off x="4648200" y="1200150"/>
            <a:ext cx="1828800" cy="15186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en-US"/>
          </a:p>
        </p:txBody>
      </p:sp>
      <p:sp>
        <p:nvSpPr>
          <p:cNvPr id="36" name="Picture Placeholder 29"/>
          <p:cNvSpPr>
            <a:spLocks noGrp="1"/>
          </p:cNvSpPr>
          <p:nvPr>
            <p:ph type="pic" sz="quarter" idx="16"/>
          </p:nvPr>
        </p:nvSpPr>
        <p:spPr>
          <a:xfrm>
            <a:off x="6705600" y="1200150"/>
            <a:ext cx="1828800" cy="15186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en-US"/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8"/>
          </p:nvPr>
        </p:nvSpPr>
        <p:spPr>
          <a:xfrm>
            <a:off x="2514600" y="3238500"/>
            <a:ext cx="1901952" cy="323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600">
                <a:latin typeface="Bebas Neue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9"/>
          </p:nvPr>
        </p:nvSpPr>
        <p:spPr>
          <a:xfrm>
            <a:off x="4572000" y="3238500"/>
            <a:ext cx="1901952" cy="323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600">
                <a:latin typeface="Bebas Neue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41" name="Content Placeholder 37"/>
          <p:cNvSpPr>
            <a:spLocks noGrp="1"/>
          </p:cNvSpPr>
          <p:nvPr>
            <p:ph sz="quarter" idx="20"/>
          </p:nvPr>
        </p:nvSpPr>
        <p:spPr>
          <a:xfrm>
            <a:off x="6629400" y="3238500"/>
            <a:ext cx="1901952" cy="323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600">
                <a:latin typeface="Bebas Neue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37" name="Content Placeholder 37"/>
          <p:cNvSpPr>
            <a:spLocks noGrp="1"/>
          </p:cNvSpPr>
          <p:nvPr>
            <p:ph sz="quarter" idx="21"/>
          </p:nvPr>
        </p:nvSpPr>
        <p:spPr>
          <a:xfrm>
            <a:off x="457200" y="3238500"/>
            <a:ext cx="1901952" cy="3238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600">
                <a:latin typeface="Bebas Neue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25" name="Content Placeholder 37"/>
          <p:cNvSpPr>
            <a:spLocks noGrp="1"/>
          </p:cNvSpPr>
          <p:nvPr>
            <p:ph sz="quarter" idx="26"/>
          </p:nvPr>
        </p:nvSpPr>
        <p:spPr>
          <a:xfrm>
            <a:off x="2514600" y="3486150"/>
            <a:ext cx="1901952" cy="99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28" name="Content Placeholder 37"/>
          <p:cNvSpPr>
            <a:spLocks noGrp="1"/>
          </p:cNvSpPr>
          <p:nvPr>
            <p:ph sz="quarter" idx="27"/>
          </p:nvPr>
        </p:nvSpPr>
        <p:spPr>
          <a:xfrm>
            <a:off x="4572000" y="3486150"/>
            <a:ext cx="1901952" cy="99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29" name="Content Placeholder 37"/>
          <p:cNvSpPr>
            <a:spLocks noGrp="1"/>
          </p:cNvSpPr>
          <p:nvPr>
            <p:ph sz="quarter" idx="28"/>
          </p:nvPr>
        </p:nvSpPr>
        <p:spPr>
          <a:xfrm>
            <a:off x="6629400" y="3486150"/>
            <a:ext cx="1901952" cy="99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31" name="Content Placeholder 37"/>
          <p:cNvSpPr>
            <a:spLocks noGrp="1"/>
          </p:cNvSpPr>
          <p:nvPr>
            <p:ph sz="quarter" idx="29"/>
          </p:nvPr>
        </p:nvSpPr>
        <p:spPr>
          <a:xfrm>
            <a:off x="457200" y="3486150"/>
            <a:ext cx="1901952" cy="99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 algn="ctr">
              <a:buNone/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46" name="Text Placeholder 42"/>
          <p:cNvSpPr>
            <a:spLocks noGrp="1"/>
          </p:cNvSpPr>
          <p:nvPr>
            <p:ph type="body" sz="quarter" idx="25"/>
          </p:nvPr>
        </p:nvSpPr>
        <p:spPr>
          <a:xfrm>
            <a:off x="533400" y="2683764"/>
            <a:ext cx="1828800" cy="268986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2" name="Text Placeholder 42"/>
          <p:cNvSpPr>
            <a:spLocks noGrp="1"/>
          </p:cNvSpPr>
          <p:nvPr>
            <p:ph type="body" sz="quarter" idx="30"/>
          </p:nvPr>
        </p:nvSpPr>
        <p:spPr>
          <a:xfrm>
            <a:off x="2590800" y="2683764"/>
            <a:ext cx="1828800" cy="268986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7" name="Text Placeholder 42"/>
          <p:cNvSpPr>
            <a:spLocks noGrp="1"/>
          </p:cNvSpPr>
          <p:nvPr>
            <p:ph type="body" sz="quarter" idx="31"/>
          </p:nvPr>
        </p:nvSpPr>
        <p:spPr>
          <a:xfrm>
            <a:off x="4648200" y="2683764"/>
            <a:ext cx="1828800" cy="268986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42"/>
          <p:cNvSpPr>
            <a:spLocks noGrp="1"/>
          </p:cNvSpPr>
          <p:nvPr>
            <p:ph type="body" sz="quarter" idx="32"/>
          </p:nvPr>
        </p:nvSpPr>
        <p:spPr>
          <a:xfrm>
            <a:off x="6705600" y="2683764"/>
            <a:ext cx="1828800" cy="268986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4781550"/>
            <a:ext cx="6629400" cy="29289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US" smtClean="0"/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990600"/>
            <a:ext cx="8229600" cy="514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533400" y="1790700"/>
            <a:ext cx="4419600" cy="2457450"/>
          </a:xfrm>
          <a:prstGeom prst="rect">
            <a:avLst/>
          </a:prstGeom>
          <a:ln w="38100">
            <a:solidFill>
              <a:schemeClr val="bg1"/>
            </a:solidFill>
            <a:miter lim="800000"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257800" y="3790950"/>
            <a:ext cx="3429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US" dirty="0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8"/>
          </p:nvPr>
        </p:nvSpPr>
        <p:spPr>
          <a:xfrm>
            <a:off x="5257800" y="2419350"/>
            <a:ext cx="3429000" cy="1219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5257800" y="1733550"/>
            <a:ext cx="3429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0" y="1047750"/>
            <a:ext cx="9144000" cy="2819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4781550"/>
            <a:ext cx="6629400" cy="29289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304800" y="4019550"/>
            <a:ext cx="8534400" cy="53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100"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1123950"/>
            <a:ext cx="5181600" cy="32766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4781550"/>
            <a:ext cx="6629400" cy="29289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US" smtClean="0"/>
            </a:fld>
            <a:endParaRPr lang="en-US"/>
          </a:p>
        </p:txBody>
      </p:sp>
      <p:sp>
        <p:nvSpPr>
          <p:cNvPr id="11" name="Content Placeholder 38"/>
          <p:cNvSpPr>
            <a:spLocks noGrp="1"/>
          </p:cNvSpPr>
          <p:nvPr>
            <p:ph sz="quarter" idx="37"/>
          </p:nvPr>
        </p:nvSpPr>
        <p:spPr>
          <a:xfrm>
            <a:off x="5410200" y="1498854"/>
            <a:ext cx="2971800" cy="3108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>
            <a:noAutofit/>
          </a:bodyPr>
          <a:lstStyle>
            <a:lvl1pPr algn="l">
              <a:buNone/>
              <a:defRPr sz="1600" b="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38"/>
          <p:cNvSpPr>
            <a:spLocks noGrp="1"/>
          </p:cNvSpPr>
          <p:nvPr>
            <p:ph sz="quarter" idx="36"/>
          </p:nvPr>
        </p:nvSpPr>
        <p:spPr>
          <a:xfrm>
            <a:off x="5410200" y="1143000"/>
            <a:ext cx="2438400" cy="361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algn="l">
              <a:buNone/>
              <a:defRPr sz="1600" b="0">
                <a:solidFill>
                  <a:schemeClr val="bg1"/>
                </a:solidFill>
                <a:latin typeface="Bebas Neue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5410200" y="2114550"/>
            <a:ext cx="3429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41"/>
          </p:nvPr>
        </p:nvSpPr>
        <p:spPr>
          <a:xfrm>
            <a:off x="5410200" y="2724150"/>
            <a:ext cx="342900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42"/>
          </p:nvPr>
        </p:nvSpPr>
        <p:spPr>
          <a:xfrm>
            <a:off x="5410200" y="3943350"/>
            <a:ext cx="3429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85750"/>
            <a:ext cx="457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5134D-7C6B-4A7B-B28B-A8C75F870448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419100"/>
            <a:ext cx="152400" cy="4000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 bwMode="auto">
          <a:xfrm>
            <a:off x="0" y="601662"/>
            <a:ext cx="1016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 bwMode="auto">
          <a:xfrm>
            <a:off x="0" y="647700"/>
            <a:ext cx="1016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Bebas Neue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»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486360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www.1ppt.com/jiaoan/ 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论坛：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www.1ppt.cn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684584" y="3363838"/>
            <a:ext cx="2448272" cy="2448272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195736" y="4299942"/>
            <a:ext cx="1584176" cy="1584176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982565" y="3723878"/>
            <a:ext cx="438268" cy="438268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812360" y="3219822"/>
            <a:ext cx="2376264" cy="2376264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3561704" y="3721694"/>
            <a:ext cx="2387800" cy="238780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7452320" y="3435846"/>
            <a:ext cx="936104" cy="936104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156176" y="4422627"/>
            <a:ext cx="1605507" cy="1605507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29" name="文本框 28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 txBox="1"/>
          <p:nvPr/>
        </p:nvSpPr>
        <p:spPr>
          <a:xfrm>
            <a:off x="3657288" y="2273919"/>
            <a:ext cx="1829435" cy="678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/>
                </a:solidFill>
                <a:cs typeface="+mn-ea"/>
                <a:sym typeface="+mn-lt"/>
              </a:rPr>
              <a:t>初识</a:t>
            </a:r>
            <a:r>
              <a:rPr lang="en-US" altLang="zh-CN" sz="3600" b="1" dirty="0">
                <a:solidFill>
                  <a:schemeClr val="accent1"/>
                </a:solidFill>
                <a:cs typeface="+mn-ea"/>
                <a:sym typeface="+mn-lt"/>
              </a:rPr>
              <a:t>Vue</a:t>
            </a:r>
            <a:endParaRPr lang="en-US" altLang="zh-CN" sz="3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1" name="文本框 30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 txBox="1"/>
          <p:nvPr/>
        </p:nvSpPr>
        <p:spPr>
          <a:xfrm>
            <a:off x="2989193" y="923549"/>
            <a:ext cx="3165615" cy="132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8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Vue.js</a:t>
            </a:r>
            <a:endParaRPr lang="zh-CN" altLang="en-US" sz="8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矩形 31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/>
          <p:nvPr/>
        </p:nvSpPr>
        <p:spPr>
          <a:xfrm>
            <a:off x="1592746" y="3375115"/>
            <a:ext cx="5958509" cy="262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讲师</a:t>
            </a:r>
            <a:r>
              <a:rPr lang="zh-CN" altLang="en-US" sz="105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：张永涛</a:t>
            </a:r>
            <a:endParaRPr lang="zh-CN" altLang="en-US" sz="105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8" dur="15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25" dur="150" fill="hold"/>
                                        <p:tgtEl>
                                          <p:spTgt spid="2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autoRev="1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32" dur="150" fill="hold"/>
                                        <p:tgtEl>
                                          <p:spTgt spid="2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39" dur="150" fill="hold"/>
                                        <p:tgtEl>
                                          <p:spTgt spid="4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46" dur="150" fill="hold"/>
                                        <p:tgtEl>
                                          <p:spTgt spid="4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53" dur="150" fill="hold"/>
                                        <p:tgtEl>
                                          <p:spTgt spid="4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20" grpId="0" animBg="1"/>
      <p:bldP spid="20" grpId="1" animBg="1"/>
      <p:bldP spid="23" grpId="0" animBg="1"/>
      <p:bldP spid="23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目录结构</a:t>
            </a:r>
            <a:endParaRPr lang="zh-CN" altLang="en-US" dirty="0">
              <a:solidFill>
                <a:srgbClr val="0070C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100" y="933450"/>
            <a:ext cx="6347460" cy="4013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altLang="zh-CN">
                <a:solidFill>
                  <a:srgbClr val="0070C0"/>
                </a:solidFill>
                <a:sym typeface="+mn-ea"/>
              </a:rPr>
              <a:t>Vue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简介</a:t>
            </a:r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291" name="内容占位符 5"/>
          <p:cNvSpPr>
            <a:spLocks noGrp="1"/>
          </p:cNvSpPr>
          <p:nvPr/>
        </p:nvSpPr>
        <p:spPr>
          <a:xfrm>
            <a:off x="457200" y="1200150"/>
            <a:ext cx="7939405" cy="3514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7465" y="1462405"/>
            <a:ext cx="9159240" cy="2315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>
                <a:solidFill>
                  <a:srgbClr val="0070C0"/>
                </a:solidFill>
                <a:sym typeface="+mn-ea"/>
              </a:rPr>
              <a:t>Vue.js 是什么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291" name="内容占位符 5"/>
          <p:cNvSpPr>
            <a:spLocks noGrp="1"/>
          </p:cNvSpPr>
          <p:nvPr/>
        </p:nvSpPr>
        <p:spPr>
          <a:xfrm>
            <a:off x="457200" y="1200150"/>
            <a:ext cx="7939405" cy="3514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dirty="0"/>
              <a:t>Vue.js（读音 /vjuː/，类似于 view）</a:t>
            </a:r>
            <a:endParaRPr dirty="0"/>
          </a:p>
          <a:p>
            <a:pPr eaLnBrk="1" hangingPunct="1">
              <a:lnSpc>
                <a:spcPct val="150000"/>
              </a:lnSpc>
            </a:pPr>
            <a:r>
              <a:rPr dirty="0"/>
              <a:t>是一套构建用户界面的</a:t>
            </a:r>
            <a:r>
              <a:rPr b="1" dirty="0"/>
              <a:t>渐进式框架</a:t>
            </a:r>
            <a:endParaRPr b="1" dirty="0"/>
          </a:p>
          <a:p>
            <a:pPr eaLnBrk="1" hangingPunct="1">
              <a:lnSpc>
                <a:spcPct val="150000"/>
              </a:lnSpc>
            </a:pPr>
            <a:r>
              <a:rPr dirty="0"/>
              <a:t>Vue 的核心库只关注视图层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>
                <a:solidFill>
                  <a:srgbClr val="0070C0"/>
                </a:solidFill>
                <a:sym typeface="+mn-ea"/>
              </a:rPr>
              <a:t>Vue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的优势</a:t>
            </a:r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内容占位符 5"/>
          <p:cNvSpPr>
            <a:spLocks noGrp="1"/>
          </p:cNvSpPr>
          <p:nvPr/>
        </p:nvSpPr>
        <p:spPr>
          <a:xfrm>
            <a:off x="431800" y="1174750"/>
            <a:ext cx="7939405" cy="3514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sz="2400" dirty="0"/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482600" y="1149350"/>
            <a:ext cx="7939405" cy="3514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>
                <a:sym typeface="+mn-ea"/>
              </a:rPr>
              <a:t>Vue 采用自底向上增量开发的设计</a:t>
            </a:r>
            <a:endParaRPr lang="zh-CN" altLang="en-US" sz="240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sym typeface="+mn-ea"/>
              </a:rPr>
              <a:t>易于上手</a:t>
            </a:r>
            <a:endParaRPr lang="zh-CN" altLang="en-US" sz="240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sym typeface="+mn-ea"/>
              </a:rPr>
              <a:t>便于与第三方库或既有项目整合</a:t>
            </a:r>
            <a:endParaRPr lang="zh-CN" altLang="en-US" sz="240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sym typeface="+mn-ea"/>
              </a:rPr>
              <a:t>单文件组件和 Vue 生态系统支持的库结合使用</a:t>
            </a:r>
            <a:endParaRPr lang="zh-CN" altLang="en-US" sz="240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sym typeface="+mn-ea"/>
              </a:rPr>
              <a:t>Vue 能够为复杂的单页应用程序提供驱动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5" grpId="3"/>
      <p:bldP spid="5" grpId="4"/>
      <p:bldP spid="5" grpId="5"/>
      <p:bldP spid="6" grpId="0"/>
      <p:bldP spid="6" grpId="1"/>
      <p:bldP spid="6" grpId="2"/>
      <p:bldP spid="6" grpId="3"/>
      <p:bldP spid="6" grpId="4"/>
      <p:bldP spid="6" grpId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0070C0"/>
                </a:solidFill>
                <a:sym typeface="+mn-ea"/>
              </a:rPr>
              <a:t>Vue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对浏览器的支持</a:t>
            </a:r>
            <a:endParaRPr lang="zh-CN" altLang="en-US"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65200"/>
            <a:ext cx="8635365" cy="3724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70C0"/>
                </a:solidFill>
                <a:sym typeface="+mn-ea"/>
              </a:rPr>
              <a:t>声明式渲染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2440" y="1049655"/>
            <a:ext cx="813816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Vue.js 的核心是一个允许采用简洁的模板语法来声明式的将数据渲染进 DOM：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049655"/>
            <a:ext cx="7696835" cy="2565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7705" y="3748405"/>
            <a:ext cx="7618095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现在数据和 DOM 已经被绑定在一起，所有的元素都是</a:t>
            </a:r>
            <a:r>
              <a:rPr lang="zh-CN" altLang="en-US" b="1"/>
              <a:t>响应式</a:t>
            </a:r>
            <a:r>
              <a:rPr lang="zh-CN" altLang="en-US"/>
              <a:t>的。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70C0"/>
                </a:solidFill>
                <a:sym typeface="+mn-ea"/>
              </a:rPr>
              <a:t>声明式渲染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2440" y="1049655"/>
            <a:ext cx="813816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除了文本插值，我们还可以采用这样的方式绑定 DOM 元素属性：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7705" y="4281805"/>
            <a:ext cx="7618095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v-bind 属性被称为指令。指令带有前缀 v-，以表示它们是 Vue 提供的特殊属性。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1136650"/>
            <a:ext cx="7690485" cy="287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70C0"/>
                </a:solidFill>
                <a:sym typeface="+mn-ea"/>
              </a:rPr>
              <a:t>条件与循环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2440" y="1049655"/>
            <a:ext cx="8138160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000"/>
              <a:t>控制元素的显示</a:t>
            </a:r>
            <a:endParaRPr lang="zh-CN" altLang="en-US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50" y="861060"/>
            <a:ext cx="7760335" cy="28003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9145" y="3980180"/>
            <a:ext cx="7679055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不仅可以绑定 DOM 文本到数据，也可以绑定 DOM </a:t>
            </a:r>
            <a:r>
              <a:rPr lang="zh-CN" altLang="en-US" b="1"/>
              <a:t>结构</a:t>
            </a:r>
            <a:r>
              <a:rPr lang="zh-CN" altLang="en-US"/>
              <a:t>到数据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0890" y="4486275"/>
            <a:ext cx="7687310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Vue 也提供一个强大的</a:t>
            </a:r>
            <a:r>
              <a:rPr lang="zh-CN" altLang="en-US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</a:rPr>
              <a:t>过渡效果</a:t>
            </a:r>
            <a:r>
              <a:rPr lang="zh-CN" altLang="en-US"/>
              <a:t>系统，可以在 Vue 插入/更新/删除元素时自动应用过渡效果。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70C0"/>
                </a:solidFill>
                <a:sym typeface="+mn-ea"/>
              </a:rPr>
              <a:t>条件与循环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2440" y="1049655"/>
            <a:ext cx="8138160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000"/>
              <a:t>还有其它很多指令，每个都有特殊的功能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770890" y="4486275"/>
            <a:ext cx="768731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v-for 指令可以绑定数组的数据来渲染一个项目列表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" y="574675"/>
            <a:ext cx="7703185" cy="3841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>
                <a:solidFill>
                  <a:srgbClr val="0070C0"/>
                </a:solidFill>
                <a:sym typeface="+mn-ea"/>
              </a:rPr>
              <a:t>处理用户输入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80695" y="1103630"/>
            <a:ext cx="8282305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为了让用户和你的应用进行互动，我们可以用 v-on 指令绑定一个事件监听器，通过它调用我们 Vue 实例中定义的方法：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90" y="774700"/>
            <a:ext cx="7601585" cy="3594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7200" y="4494530"/>
            <a:ext cx="8305800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注意在 reverseMessage 方法中，我们更新了应用的状态，但没有触碰 DOM——所有的 DOM 操作都由 Vue 来处理，你编写的代码只需要关注底层逻辑。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>
                <a:solidFill>
                  <a:srgbClr val="0070C0"/>
                </a:solidFill>
                <a:sym typeface="+mn-ea"/>
              </a:rPr>
              <a:t>处理用户输入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8950" y="1045845"/>
            <a:ext cx="819785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Vue 还提供了 v-model 指令，它能轻松实现表单输入和应用状态之间的双向绑定。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40" y="1654175"/>
            <a:ext cx="7715885" cy="3054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>
                <a:solidFill>
                  <a:srgbClr val="0070C0"/>
                </a:solidFill>
                <a:sym typeface="+mn-ea"/>
              </a:rPr>
              <a:t>组件化应用构建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96240" y="1043940"/>
            <a:ext cx="8366760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组件系统是 Vue 的另一个重要概念，因为它是一种抽象，允许我们使用小型、自包含和通常可复用的组件构建大型应用。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1816100"/>
            <a:ext cx="7519035" cy="288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>
                <a:solidFill>
                  <a:srgbClr val="0070C0"/>
                </a:solidFill>
                <a:sym typeface="+mn-ea"/>
              </a:rPr>
              <a:t>组件化应用构建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96240" y="1043940"/>
            <a:ext cx="8366760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 Vue 里，一个组件本质上是一个拥有预定义选项的一个 Vue 实例，在 Vue 中注册组件很简单：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65" y="1689100"/>
            <a:ext cx="7671435" cy="1155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5" y="2901950"/>
            <a:ext cx="7671435" cy="116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>
                <a:solidFill>
                  <a:srgbClr val="0070C0"/>
                </a:solidFill>
                <a:sym typeface="+mn-ea"/>
              </a:rPr>
              <a:t>组件化应用构建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96240" y="1043940"/>
            <a:ext cx="8366760" cy="933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但是这样会为每个待办项渲染同样的文本，这看起来并不炫酷，我们应该能将数据从父作用域传到子组件。让我们来修改一下组件的定义，使之能够接受一个属性：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90" y="165100"/>
            <a:ext cx="7601585" cy="4813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>
                <a:solidFill>
                  <a:srgbClr val="0070C0"/>
                </a:solidFill>
                <a:sym typeface="+mn-ea"/>
              </a:rPr>
              <a:t>与自定义元素的关系</a:t>
            </a:r>
            <a:endParaRPr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57200" y="1078865"/>
            <a:ext cx="822960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你可能已经注意到 Vue 组件非常类似于自定义元素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47040" y="1501775"/>
            <a:ext cx="823976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它是 Web 组件规范的一部分，这是因为 Vue 的组件语法部分参考了该规范。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2440" y="1946275"/>
            <a:ext cx="821436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但是，还是有几个关键差别：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72440" y="2426970"/>
            <a:ext cx="8290560" cy="17564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    Web 组件规范仍然处于草案阶段，并且尚无浏览器原生实现。相比之下，Vue 组件不需要任何补丁，并且在所有支持的浏览器（IE9 及更高版本）之下表现一致。必要时，Vue 组件也可以包装于原生自定义元素之内。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    Vue 组件提供了纯自定义元素所不具备的一些重要功能，最突出的是跨组件数据流，自定义事件通信以及构建工具集成。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-684584" y="3363838"/>
            <a:ext cx="2448272" cy="2448272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195736" y="4299942"/>
            <a:ext cx="1584176" cy="1584176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982565" y="3723878"/>
            <a:ext cx="438268" cy="438268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812360" y="3219822"/>
            <a:ext cx="2376264" cy="2376264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3561704" y="3721694"/>
            <a:ext cx="2387800" cy="238780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7452320" y="3435846"/>
            <a:ext cx="936104" cy="936104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156176" y="4422627"/>
            <a:ext cx="1605507" cy="1605507"/>
          </a:xfrm>
          <a:prstGeom prst="ellipse">
            <a:avLst/>
          </a:prstGeom>
          <a:noFill/>
          <a:ln w="952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cs typeface="+mn-ea"/>
              <a:sym typeface="+mn-lt"/>
            </a:endParaRPr>
          </a:p>
        </p:txBody>
      </p:sp>
      <p:sp>
        <p:nvSpPr>
          <p:cNvPr id="31" name="文本框 30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 txBox="1"/>
          <p:nvPr/>
        </p:nvSpPr>
        <p:spPr>
          <a:xfrm>
            <a:off x="2989193" y="923549"/>
            <a:ext cx="3165615" cy="177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1035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谢谢</a:t>
            </a:r>
            <a:endParaRPr lang="zh-CN" sz="1035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矩形 31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/>
          <p:nvPr/>
        </p:nvSpPr>
        <p:spPr>
          <a:xfrm>
            <a:off x="1592746" y="3375115"/>
            <a:ext cx="5958509" cy="262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讲师</a:t>
            </a:r>
            <a:r>
              <a:rPr lang="zh-CN" altLang="en-US" sz="105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1050" b="1" dirty="0" smtClean="0">
                <a:solidFill>
                  <a:schemeClr val="accent1"/>
                </a:solidFill>
                <a:cs typeface="+mn-ea"/>
                <a:sym typeface="+mn-lt"/>
              </a:rPr>
              <a:t>张永涛</a:t>
            </a:r>
            <a:endParaRPr lang="zh-CN" altLang="en-US" sz="105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14:doors dir="vert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8" dur="15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25" dur="150" fill="hold"/>
                                        <p:tgtEl>
                                          <p:spTgt spid="2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autoRev="1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32" dur="150" fill="hold"/>
                                        <p:tgtEl>
                                          <p:spTgt spid="2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39" dur="150" fill="hold"/>
                                        <p:tgtEl>
                                          <p:spTgt spid="4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46" dur="150" fill="hold"/>
                                        <p:tgtEl>
                                          <p:spTgt spid="4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53" dur="150" fill="hold"/>
                                        <p:tgtEl>
                                          <p:spTgt spid="4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20" grpId="0" animBg="1"/>
      <p:bldP spid="20" grpId="1" animBg="1"/>
      <p:bldP spid="23" grpId="0" animBg="1"/>
      <p:bldP spid="23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1677</Words>
  <Application>WPS 演示</Application>
  <PresentationFormat>全屏显示(16:9)</PresentationFormat>
  <Paragraphs>128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Bebas Neue</vt:lpstr>
      <vt:lpstr>Calibri</vt:lpstr>
      <vt:lpstr>微软雅黑</vt:lpstr>
      <vt:lpstr>Segoe Print</vt:lpstr>
      <vt:lpstr>第一PPT，www.1ppt.com</vt:lpstr>
      <vt:lpstr>PowerPoint 演示文稿</vt:lpstr>
      <vt:lpstr>目录结构</vt:lpstr>
      <vt:lpstr>Vue简介</vt:lpstr>
      <vt:lpstr>Vue.js 是什么</vt:lpstr>
      <vt:lpstr>Vue的优势</vt:lpstr>
      <vt:lpstr>Vue对浏览器的支持</vt:lpstr>
      <vt:lpstr>声明式渲染</vt:lpstr>
      <vt:lpstr>声明式渲染</vt:lpstr>
      <vt:lpstr>条件与循环</vt:lpstr>
      <vt:lpstr>条件与循环</vt:lpstr>
      <vt:lpstr>处理用户输入</vt:lpstr>
      <vt:lpstr>处理用户输入</vt:lpstr>
      <vt:lpstr>组件化应用构建</vt:lpstr>
      <vt:lpstr>组件化应用构建</vt:lpstr>
      <vt:lpstr>组件化应用构建</vt:lpstr>
      <vt:lpstr>与自定义元素的关系</vt:lpstr>
      <vt:lpstr>PowerPoint 演示文稿</vt:lpstr>
    </vt:vector>
  </TitlesOfParts>
  <Company>LIME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第一PPT模板网-WWW.1PPT.COM</dc:creator>
  <cp:lastModifiedBy>张永涛</cp:lastModifiedBy>
  <cp:revision>245</cp:revision>
  <dcterms:created xsi:type="dcterms:W3CDTF">2011-12-26T17:46:00Z</dcterms:created>
  <dcterms:modified xsi:type="dcterms:W3CDTF">2017-05-09T01:35:00Z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